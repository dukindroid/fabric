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0" r:id="rId2"/>
    <p:sldId id="259" r:id="rId3"/>
  </p:sldIdLst>
  <p:sldSz cx="6858000" cy="9144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AFD8"/>
    <a:srgbClr val="99FF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6" autoAdjust="0"/>
    <p:restoredTop sz="94660"/>
  </p:normalViewPr>
  <p:slideViewPr>
    <p:cSldViewPr>
      <p:cViewPr>
        <p:scale>
          <a:sx n="40" d="100"/>
          <a:sy n="40" d="100"/>
        </p:scale>
        <p:origin x="1663" y="14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9D767-14A5-478C-B348-941B316C5F81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277E6D-C2DE-4F43-9D82-E076FED4905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59477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277E6D-C2DE-4F43-9D82-E076FED4905A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88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763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0890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1875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6665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52299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05532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644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939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629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275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604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032-7405-4C1E-BEEE-28DD54204CC5}" type="datetimeFigureOut">
              <a:rPr lang="es-MX" smtClean="0"/>
              <a:t>31/03/2017</a:t>
            </a:fld>
            <a:endParaRPr lang="es-MX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D068E-0856-438B-BC2E-F5C61D14FB5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887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484784" y="-36512"/>
            <a:ext cx="5437475" cy="9361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dirty="0"/>
          </a:p>
        </p:txBody>
      </p:sp>
      <p:sp>
        <p:nvSpPr>
          <p:cNvPr id="3" name="Rectángulo 2"/>
          <p:cNvSpPr/>
          <p:nvPr/>
        </p:nvSpPr>
        <p:spPr>
          <a:xfrm>
            <a:off x="-27384" y="-36512"/>
            <a:ext cx="1526381" cy="9217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-27384" y="539552"/>
            <a:ext cx="4248472" cy="936104"/>
          </a:xfrm>
          <a:prstGeom prst="rect">
            <a:avLst/>
          </a:prstGeom>
          <a:solidFill>
            <a:srgbClr val="31AFD8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latin typeface="Arial Rounded MT Bold" panose="020F0704030504030204" pitchFamily="34" charset="0"/>
              </a:rPr>
              <a:t>Javier Gutiérrez Herrera</a:t>
            </a:r>
          </a:p>
          <a:p>
            <a:r>
              <a:rPr lang="en-US" sz="1400" dirty="0">
                <a:latin typeface="Arial Rounded MT Bold" panose="020F0704030504030204" pitchFamily="34" charset="0"/>
              </a:rPr>
              <a:t>            </a:t>
            </a:r>
            <a:r>
              <a:rPr lang="en-US" sz="1400" dirty="0" err="1">
                <a:latin typeface="Arial Rounded MT Bold" panose="020F0704030504030204" pitchFamily="34" charset="0"/>
              </a:rPr>
              <a:t>Analista</a:t>
            </a:r>
            <a:endParaRPr lang="es-MX" sz="140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n 5" descr="Recorte de pantall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30" y="443518"/>
            <a:ext cx="259102" cy="247671"/>
          </a:xfrm>
          <a:prstGeom prst="rect">
            <a:avLst/>
          </a:prstGeom>
        </p:spPr>
      </p:pic>
      <p:pic>
        <p:nvPicPr>
          <p:cNvPr id="8" name="Imagen 7" descr="Recorte de pantalla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20" y="845083"/>
            <a:ext cx="262913" cy="270533"/>
          </a:xfrm>
          <a:prstGeom prst="rect">
            <a:avLst/>
          </a:prstGeom>
        </p:spPr>
      </p:pic>
      <p:pic>
        <p:nvPicPr>
          <p:cNvPr id="10" name="Imagen 9" descr="Recorte de pantalla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719" y="1269510"/>
            <a:ext cx="262913" cy="278154"/>
          </a:xfrm>
          <a:prstGeom prst="rect">
            <a:avLst/>
          </a:prstGeom>
        </p:spPr>
      </p:pic>
      <p:sp>
        <p:nvSpPr>
          <p:cNvPr id="11" name="Rectangle 90"/>
          <p:cNvSpPr>
            <a:spLocks noChangeArrowheads="1"/>
          </p:cNvSpPr>
          <p:nvPr/>
        </p:nvSpPr>
        <p:spPr bwMode="auto">
          <a:xfrm>
            <a:off x="4761096" y="403620"/>
            <a:ext cx="2772360" cy="2799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Ma de Jesus Sandoval 1342, Col. Punta</a:t>
            </a:r>
            <a:b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</a:br>
            <a: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Diamante, C.P. 28979  </a:t>
            </a:r>
            <a:r>
              <a:rPr lang="en-US" sz="850" b="1" dirty="0" err="1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VdA</a:t>
            </a:r>
            <a: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, Colima</a:t>
            </a:r>
          </a:p>
        </p:txBody>
      </p:sp>
      <p:sp>
        <p:nvSpPr>
          <p:cNvPr id="12" name="Rectangle 87"/>
          <p:cNvSpPr>
            <a:spLocks noChangeArrowheads="1"/>
          </p:cNvSpPr>
          <p:nvPr/>
        </p:nvSpPr>
        <p:spPr bwMode="auto">
          <a:xfrm>
            <a:off x="4761096" y="899592"/>
            <a:ext cx="1823085" cy="13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312 171 00 44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83"/>
          <p:cNvSpPr>
            <a:spLocks noChangeArrowheads="1"/>
          </p:cNvSpPr>
          <p:nvPr/>
        </p:nvSpPr>
        <p:spPr bwMode="auto">
          <a:xfrm>
            <a:off x="4761096" y="1358505"/>
            <a:ext cx="1152560" cy="132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dukintosh@gmail.com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9"/>
          <p:cNvSpPr>
            <a:spLocks noChangeArrowheads="1"/>
          </p:cNvSpPr>
          <p:nvPr/>
        </p:nvSpPr>
        <p:spPr bwMode="auto">
          <a:xfrm>
            <a:off x="1772816" y="1791122"/>
            <a:ext cx="720090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00" b="1" spc="30" dirty="0">
                <a:solidFill>
                  <a:srgbClr val="414042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RESUMEN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 Box 162"/>
          <p:cNvSpPr txBox="1">
            <a:spLocks noChangeArrowheads="1"/>
          </p:cNvSpPr>
          <p:nvPr/>
        </p:nvSpPr>
        <p:spPr bwMode="auto">
          <a:xfrm>
            <a:off x="1700808" y="2115076"/>
            <a:ext cx="4730043" cy="1970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just">
              <a:lnSpc>
                <a:spcPts val="1300"/>
              </a:lnSpc>
              <a:spcAft>
                <a:spcPts val="600"/>
              </a:spcAft>
            </a:pPr>
            <a:r>
              <a:rPr lang="es-MX" sz="1000" spc="10" dirty="0">
                <a:solidFill>
                  <a:srgbClr val="7E8185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Analista desarrollador apasionado por innovar y probar nuevos retos, he trabajado en diferentes lenguajes, y tengo facilidad de adaptación. Cuento con conocimientos en inteligencia de negocios. Me caracterizan mis habilidades an</a:t>
            </a:r>
            <a:r>
              <a:rPr lang="es-MX" sz="1000" spc="10" dirty="0">
                <a:solidFill>
                  <a:srgbClr val="7E8185"/>
                </a:solidFill>
                <a:latin typeface="Lato"/>
                <a:ea typeface="Calibri" panose="020F0502020204030204" pitchFamily="34" charset="0"/>
                <a:cs typeface="Lato"/>
              </a:rPr>
              <a:t>alíticas, así como el gran nivel de compromiso que imprimo en las tareas, con las personas y con las organizaciones.</a:t>
            </a:r>
          </a:p>
          <a:p>
            <a:pPr algn="just">
              <a:lnSpc>
                <a:spcPts val="1300"/>
              </a:lnSpc>
              <a:spcAft>
                <a:spcPts val="600"/>
              </a:spcAft>
            </a:pPr>
            <a:endParaRPr lang="es-MX" sz="1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ts val="1300"/>
              </a:lnSpc>
              <a:spcAft>
                <a:spcPts val="600"/>
              </a:spcAft>
            </a:pPr>
            <a:r>
              <a:rPr lang="es-MX" sz="1000" b="1" spc="10" dirty="0">
                <a:solidFill>
                  <a:srgbClr val="7E8185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Especializarme en herramientas y técnicas de programación y administración dé última generación orientadas a </a:t>
            </a:r>
            <a:r>
              <a:rPr lang="es-MX" sz="1000" b="1" spc="10" dirty="0">
                <a:solidFill>
                  <a:srgbClr val="7E8185"/>
                </a:solidFill>
                <a:latin typeface="Lato"/>
                <a:ea typeface="Calibri" panose="020F0502020204030204" pitchFamily="34" charset="0"/>
                <a:cs typeface="Lato"/>
              </a:rPr>
              <a:t>solucionar los requerimientos del mercado informático, así como adquirir sólida experiencia en la gerencia/administración de proyectos TI.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Conector recto 16"/>
          <p:cNvCxnSpPr>
            <a:cxnSpLocks/>
          </p:cNvCxnSpPr>
          <p:nvPr/>
        </p:nvCxnSpPr>
        <p:spPr>
          <a:xfrm>
            <a:off x="1772816" y="2061827"/>
            <a:ext cx="261749" cy="0"/>
          </a:xfrm>
          <a:prstGeom prst="line">
            <a:avLst/>
          </a:prstGeom>
          <a:ln w="4127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1762760" y="5971817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Asistente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de </a:t>
            </a: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Sistemas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 – SERVICES TECE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Rectangle 25"/>
          <p:cNvSpPr>
            <a:spLocks noChangeArrowheads="1"/>
          </p:cNvSpPr>
          <p:nvPr/>
        </p:nvSpPr>
        <p:spPr bwMode="auto">
          <a:xfrm>
            <a:off x="1772816" y="5576005"/>
            <a:ext cx="1335237" cy="250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spc="30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EXPERIENCIA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2" name="Conector recto 21"/>
          <p:cNvCxnSpPr>
            <a:cxnSpLocks/>
          </p:cNvCxnSpPr>
          <p:nvPr/>
        </p:nvCxnSpPr>
        <p:spPr>
          <a:xfrm>
            <a:off x="1772816" y="5851358"/>
            <a:ext cx="261749" cy="0"/>
          </a:xfrm>
          <a:prstGeom prst="line">
            <a:avLst/>
          </a:prstGeom>
          <a:ln w="4127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746781" y="6159838"/>
            <a:ext cx="1931670" cy="1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Julio 2016 - Actual 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198"/>
          <p:cNvSpPr txBox="1">
            <a:spLocks noChangeArrowheads="1"/>
          </p:cNvSpPr>
          <p:nvPr/>
        </p:nvSpPr>
        <p:spPr bwMode="auto">
          <a:xfrm>
            <a:off x="1628800" y="6381393"/>
            <a:ext cx="5083291" cy="854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Mantenimiento preventivo y correctivo a los sistemas operativos, redes de comunicación, servidores y equipo de computo en general.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Soporte y asistencia al usuario.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Apoyo en el Seguimiento y Mejoras de los Sistemas.</a:t>
            </a:r>
            <a:endParaRPr lang="es-MX" sz="1000" spc="10" dirty="0">
              <a:solidFill>
                <a:srgbClr val="7E8185"/>
              </a:solidFill>
              <a:latin typeface="Lato"/>
            </a:endParaRP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endParaRPr lang="es-MX" sz="1000" spc="10" dirty="0">
              <a:solidFill>
                <a:srgbClr val="7E8185"/>
              </a:solidFill>
              <a:latin typeface="Lato"/>
            </a:endParaRPr>
          </a:p>
        </p:txBody>
      </p:sp>
      <p:sp>
        <p:nvSpPr>
          <p:cNvPr id="24" name="Rectangle 99"/>
          <p:cNvSpPr>
            <a:spLocks noChangeArrowheads="1"/>
          </p:cNvSpPr>
          <p:nvPr/>
        </p:nvSpPr>
        <p:spPr bwMode="auto">
          <a:xfrm>
            <a:off x="124406" y="7277442"/>
            <a:ext cx="1000338" cy="2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00" b="1" spc="30" dirty="0">
                <a:solidFill>
                  <a:srgbClr val="414042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EDUCACIÓN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9" name="Conector recto 28"/>
          <p:cNvCxnSpPr>
            <a:cxnSpLocks/>
          </p:cNvCxnSpPr>
          <p:nvPr/>
        </p:nvCxnSpPr>
        <p:spPr>
          <a:xfrm>
            <a:off x="116632" y="7538040"/>
            <a:ext cx="504056" cy="0"/>
          </a:xfrm>
          <a:prstGeom prst="line">
            <a:avLst/>
          </a:prstGeom>
          <a:ln w="3492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56"/>
          <p:cNvSpPr>
            <a:spLocks noChangeArrowheads="1"/>
          </p:cNvSpPr>
          <p:nvPr/>
        </p:nvSpPr>
        <p:spPr bwMode="auto">
          <a:xfrm>
            <a:off x="121693" y="7650095"/>
            <a:ext cx="1435099" cy="27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Ing. En Sistemas Computacionales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1" name="Rectangle 153"/>
          <p:cNvSpPr>
            <a:spLocks noChangeArrowheads="1"/>
          </p:cNvSpPr>
          <p:nvPr/>
        </p:nvSpPr>
        <p:spPr bwMode="auto">
          <a:xfrm>
            <a:off x="108228" y="7970088"/>
            <a:ext cx="159258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MX" sz="8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I</a:t>
            </a:r>
            <a:r>
              <a:rPr lang="es-MX" sz="8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CEP COLIMA – ITESM</a:t>
            </a:r>
            <a:br>
              <a:rPr lang="es-MX" sz="8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</a:br>
            <a:r>
              <a:rPr lang="es-MX" sz="8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CAMPUS MONTERREY</a:t>
            </a:r>
          </a:p>
        </p:txBody>
      </p:sp>
      <p:cxnSp>
        <p:nvCxnSpPr>
          <p:cNvPr id="33" name="Conector recto 32"/>
          <p:cNvCxnSpPr>
            <a:cxnSpLocks/>
          </p:cNvCxnSpPr>
          <p:nvPr/>
        </p:nvCxnSpPr>
        <p:spPr>
          <a:xfrm>
            <a:off x="44624" y="8330128"/>
            <a:ext cx="129614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56"/>
          <p:cNvSpPr>
            <a:spLocks noChangeArrowheads="1"/>
          </p:cNvSpPr>
          <p:nvPr/>
        </p:nvSpPr>
        <p:spPr bwMode="auto">
          <a:xfrm>
            <a:off x="116632" y="8402136"/>
            <a:ext cx="1435099" cy="27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Inglés Avanzado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 153"/>
          <p:cNvSpPr>
            <a:spLocks noChangeArrowheads="1"/>
          </p:cNvSpPr>
          <p:nvPr/>
        </p:nvSpPr>
        <p:spPr bwMode="auto">
          <a:xfrm>
            <a:off x="108228" y="8618160"/>
            <a:ext cx="159258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8" name="Rectangle 99"/>
          <p:cNvSpPr>
            <a:spLocks noChangeArrowheads="1"/>
          </p:cNvSpPr>
          <p:nvPr/>
        </p:nvSpPr>
        <p:spPr bwMode="auto">
          <a:xfrm>
            <a:off x="116632" y="1763688"/>
            <a:ext cx="1311962" cy="2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00" b="1" spc="30" dirty="0">
                <a:solidFill>
                  <a:srgbClr val="414042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COMPETENCIAS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9" name="Conector recto 38"/>
          <p:cNvCxnSpPr>
            <a:cxnSpLocks/>
          </p:cNvCxnSpPr>
          <p:nvPr/>
        </p:nvCxnSpPr>
        <p:spPr>
          <a:xfrm>
            <a:off x="116632" y="2051720"/>
            <a:ext cx="504056" cy="0"/>
          </a:xfrm>
          <a:prstGeom prst="line">
            <a:avLst/>
          </a:prstGeom>
          <a:ln w="3492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56"/>
          <p:cNvSpPr>
            <a:spLocks noChangeArrowheads="1"/>
          </p:cNvSpPr>
          <p:nvPr/>
        </p:nvSpPr>
        <p:spPr bwMode="auto">
          <a:xfrm>
            <a:off x="121693" y="2141250"/>
            <a:ext cx="1435099" cy="227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PENSAMIENTO LÓGICO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ALTA CAPACIDAD DE ANÁLISIS E </a:t>
            </a:r>
            <a:b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INVESTIGACIÓN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CAPACIDAD DE</a:t>
            </a: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 ATENCIÓN Y CONCENTRACIÓN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INNOVACIÓN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PROACTIVO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ORDENADO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DISEÑO GRÁFICO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156"/>
          <p:cNvSpPr>
            <a:spLocks noChangeArrowheads="1"/>
          </p:cNvSpPr>
          <p:nvPr/>
        </p:nvSpPr>
        <p:spPr bwMode="auto">
          <a:xfrm>
            <a:off x="1777877" y="3157746"/>
            <a:ext cx="1435099" cy="262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00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OBJETIVO</a:t>
            </a: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23"/>
          <p:cNvSpPr>
            <a:spLocks noChangeArrowheads="1"/>
          </p:cNvSpPr>
          <p:nvPr/>
        </p:nvSpPr>
        <p:spPr bwMode="auto">
          <a:xfrm>
            <a:off x="1772816" y="7194845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Administrador</a:t>
            </a:r>
            <a:r>
              <a:rPr lang="en-US" sz="1050" b="1" dirty="0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 General 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– JOYERÍA ALTOR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Rectangle 22"/>
          <p:cNvSpPr>
            <a:spLocks noChangeArrowheads="1"/>
          </p:cNvSpPr>
          <p:nvPr/>
        </p:nvSpPr>
        <p:spPr bwMode="auto">
          <a:xfrm>
            <a:off x="1746781" y="7382866"/>
            <a:ext cx="1931670" cy="1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Agosto 2014 - </a:t>
            </a:r>
            <a:r>
              <a:rPr lang="en-US" sz="1050" b="1" dirty="0" err="1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Diciembre</a:t>
            </a:r>
            <a:r>
              <a:rPr lang="en-US" sz="1050" b="1" dirty="0">
                <a:solidFill>
                  <a:srgbClr val="6D6E71"/>
                </a:solidFill>
                <a:latin typeface="Lato"/>
                <a:ea typeface="Calibri" panose="020F0502020204030204" pitchFamily="34" charset="0"/>
                <a:cs typeface="Lato"/>
              </a:rPr>
              <a:t> 2015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Text Box 198"/>
          <p:cNvSpPr txBox="1">
            <a:spLocks noChangeArrowheads="1"/>
          </p:cNvSpPr>
          <p:nvPr/>
        </p:nvSpPr>
        <p:spPr bwMode="auto">
          <a:xfrm>
            <a:off x="1628800" y="7604421"/>
            <a:ext cx="5083291" cy="1864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Responsable de la Administración general de la organización: inventarios, cuentas por cobrar, cuentas por pagar, relación con clientes y proveedores.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Gestión de relaciones con clientes: responsable del ciclo de venta con el cliente, aumentar el margen para cada cliente, aumentar la cantidad de clientes, prolongar el ciclo de vida del cliente.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Logística y transporte: responsable de la planeación de las rutas lógicas de distribución y optimización de recursos. Reporteo y análisis de rendimientos vehiculares.</a:t>
            </a:r>
          </a:p>
        </p:txBody>
      </p:sp>
      <p:sp>
        <p:nvSpPr>
          <p:cNvPr id="47" name="Rectangle 99"/>
          <p:cNvSpPr>
            <a:spLocks noChangeArrowheads="1"/>
          </p:cNvSpPr>
          <p:nvPr/>
        </p:nvSpPr>
        <p:spPr bwMode="auto">
          <a:xfrm>
            <a:off x="116632" y="4572000"/>
            <a:ext cx="1128258" cy="2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00" b="1" spc="30" dirty="0">
                <a:solidFill>
                  <a:srgbClr val="414042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HABILIDADES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8" name="Conector recto 47"/>
          <p:cNvCxnSpPr>
            <a:cxnSpLocks/>
          </p:cNvCxnSpPr>
          <p:nvPr/>
        </p:nvCxnSpPr>
        <p:spPr>
          <a:xfrm>
            <a:off x="116632" y="4860032"/>
            <a:ext cx="504056" cy="0"/>
          </a:xfrm>
          <a:prstGeom prst="line">
            <a:avLst/>
          </a:prstGeom>
          <a:ln w="3492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56"/>
          <p:cNvSpPr>
            <a:spLocks noChangeArrowheads="1"/>
          </p:cNvSpPr>
          <p:nvPr/>
        </p:nvSpPr>
        <p:spPr bwMode="auto">
          <a:xfrm>
            <a:off x="121693" y="4949562"/>
            <a:ext cx="1435099" cy="3024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GESTIÓN DE COBRANZA</a:t>
            </a: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, INVENTARIOS Y ATENCIÓN EN MOSTRADOR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ACTITUD DE SERVICIO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USO, MANEJO E IMPLEMENTACIÓN DE CRM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MANEJO, INSTALACIÓN,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Y MANTENIMIENTO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PREVENTIVO DE SISTEMAS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85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DE AUDIO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2" name="Rectangle 156"/>
          <p:cNvSpPr>
            <a:spLocks noChangeArrowheads="1"/>
          </p:cNvSpPr>
          <p:nvPr/>
        </p:nvSpPr>
        <p:spPr bwMode="auto">
          <a:xfrm>
            <a:off x="1772816" y="4211960"/>
            <a:ext cx="3384376" cy="197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00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CONOCIMIENTOS EN SISTEMAS COMPUTACIONALES</a:t>
            </a:r>
            <a:endParaRPr lang="es-ES" sz="85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3" name="Text Box 198"/>
          <p:cNvSpPr txBox="1">
            <a:spLocks noChangeArrowheads="1"/>
          </p:cNvSpPr>
          <p:nvPr/>
        </p:nvSpPr>
        <p:spPr bwMode="auto">
          <a:xfrm>
            <a:off x="1700808" y="4474086"/>
            <a:ext cx="2160239" cy="1050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900" spc="10" dirty="0">
                <a:solidFill>
                  <a:srgbClr val="7E8185"/>
                </a:solidFill>
                <a:latin typeface="Lato"/>
              </a:rPr>
              <a:t>Programación: Sistemas embebidos (</a:t>
            </a:r>
            <a:r>
              <a:rPr lang="es-MX" sz="900" spc="10" dirty="0" err="1">
                <a:solidFill>
                  <a:srgbClr val="7E8185"/>
                </a:solidFill>
                <a:latin typeface="Lato"/>
              </a:rPr>
              <a:t>Arduino</a:t>
            </a:r>
            <a:r>
              <a:rPr lang="es-MX" sz="900" spc="10" dirty="0">
                <a:solidFill>
                  <a:srgbClr val="7E8185"/>
                </a:solidFill>
                <a:latin typeface="Lato"/>
              </a:rPr>
              <a:t>), páginas web dinámicas,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900" spc="10" dirty="0">
                <a:solidFill>
                  <a:srgbClr val="7E8185"/>
                </a:solidFill>
                <a:latin typeface="Lato"/>
              </a:rPr>
              <a:t>Full </a:t>
            </a:r>
            <a:r>
              <a:rPr lang="es-MX" sz="900" spc="10" dirty="0" err="1">
                <a:solidFill>
                  <a:srgbClr val="7E8185"/>
                </a:solidFill>
                <a:latin typeface="Lato"/>
              </a:rPr>
              <a:t>stack</a:t>
            </a:r>
            <a:r>
              <a:rPr lang="es-MX" sz="900" spc="10" dirty="0">
                <a:solidFill>
                  <a:srgbClr val="7E8185"/>
                </a:solidFill>
                <a:latin typeface="Lato"/>
              </a:rPr>
              <a:t> </a:t>
            </a:r>
            <a:r>
              <a:rPr lang="es-MX" sz="900" spc="10" dirty="0" err="1">
                <a:solidFill>
                  <a:srgbClr val="7E8185"/>
                </a:solidFill>
                <a:latin typeface="Lato"/>
              </a:rPr>
              <a:t>developer</a:t>
            </a:r>
            <a:r>
              <a:rPr lang="es-MX" sz="900" spc="10" dirty="0">
                <a:solidFill>
                  <a:srgbClr val="7E8185"/>
                </a:solidFill>
                <a:latin typeface="Lato"/>
              </a:rPr>
              <a:t>: Linux, Apache, PHP, </a:t>
            </a:r>
            <a:r>
              <a:rPr lang="es-MX" sz="900" spc="10" dirty="0" err="1">
                <a:solidFill>
                  <a:srgbClr val="7E8185"/>
                </a:solidFill>
                <a:latin typeface="Lato"/>
              </a:rPr>
              <a:t>Composer</a:t>
            </a:r>
            <a:r>
              <a:rPr lang="es-MX" sz="900" spc="10" dirty="0">
                <a:solidFill>
                  <a:srgbClr val="7E8185"/>
                </a:solidFill>
                <a:latin typeface="Lato"/>
              </a:rPr>
              <a:t>, </a:t>
            </a:r>
            <a:r>
              <a:rPr lang="es-MX" sz="900" spc="10" dirty="0" err="1">
                <a:solidFill>
                  <a:srgbClr val="7E8185"/>
                </a:solidFill>
                <a:latin typeface="Lato"/>
              </a:rPr>
              <a:t>MySQL</a:t>
            </a:r>
            <a:r>
              <a:rPr lang="es-MX" sz="900" spc="10" dirty="0">
                <a:solidFill>
                  <a:srgbClr val="7E8185"/>
                </a:solidFill>
                <a:latin typeface="Lato"/>
              </a:rPr>
              <a:t>, HTML5, CSS.</a:t>
            </a:r>
          </a:p>
        </p:txBody>
      </p:sp>
      <p:sp>
        <p:nvSpPr>
          <p:cNvPr id="55" name="Text Box 198"/>
          <p:cNvSpPr txBox="1">
            <a:spLocks noChangeArrowheads="1"/>
          </p:cNvSpPr>
          <p:nvPr/>
        </p:nvSpPr>
        <p:spPr bwMode="auto">
          <a:xfrm>
            <a:off x="4221088" y="4474086"/>
            <a:ext cx="2160239" cy="1050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900" spc="10" dirty="0">
                <a:solidFill>
                  <a:srgbClr val="7E8185"/>
                </a:solidFill>
                <a:latin typeface="Lato"/>
              </a:rPr>
              <a:t>Instalación y mantenimiento de redes y sistemas Windows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900" spc="10" dirty="0">
                <a:solidFill>
                  <a:srgbClr val="7E8185"/>
                </a:solidFill>
                <a:latin typeface="Lato"/>
              </a:rPr>
              <a:t>Mantenimiento preventivo y correctivo de hardware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900" spc="10" dirty="0">
                <a:solidFill>
                  <a:srgbClr val="7E8185"/>
                </a:solidFill>
                <a:latin typeface="Lato"/>
              </a:rPr>
              <a:t>Diseño de gráficos y multimedia</a:t>
            </a:r>
          </a:p>
        </p:txBody>
      </p:sp>
    </p:spTree>
    <p:extLst>
      <p:ext uri="{BB962C8B-B14F-4D97-AF65-F5344CB8AC3E}">
        <p14:creationId xmlns:p14="http://schemas.microsoft.com/office/powerpoint/2010/main" val="246922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1772816" y="-36512"/>
            <a:ext cx="5085184" cy="9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" name="Rectángulo 2"/>
          <p:cNvSpPr/>
          <p:nvPr/>
        </p:nvSpPr>
        <p:spPr>
          <a:xfrm>
            <a:off x="-27384" y="-36512"/>
            <a:ext cx="1526381" cy="92170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" name="Rectángulo 3"/>
          <p:cNvSpPr/>
          <p:nvPr/>
        </p:nvSpPr>
        <p:spPr>
          <a:xfrm>
            <a:off x="-27384" y="705521"/>
            <a:ext cx="3705835" cy="626119"/>
          </a:xfrm>
          <a:prstGeom prst="rect">
            <a:avLst/>
          </a:prstGeom>
          <a:solidFill>
            <a:srgbClr val="31AFD8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 Rounded MT Bold" panose="020F0704030504030204" pitchFamily="34" charset="0"/>
              </a:rPr>
              <a:t>Javier Gutiérrez Herrera</a:t>
            </a:r>
          </a:p>
          <a:p>
            <a:r>
              <a:rPr lang="en-US" sz="1100" dirty="0">
                <a:latin typeface="Arial Rounded MT Bold" panose="020F0704030504030204" pitchFamily="34" charset="0"/>
              </a:rPr>
              <a:t>                </a:t>
            </a:r>
            <a:r>
              <a:rPr lang="en-US" sz="1100" dirty="0" err="1">
                <a:latin typeface="Arial Rounded MT Bold" panose="020F0704030504030204" pitchFamily="34" charset="0"/>
              </a:rPr>
              <a:t>Analista</a:t>
            </a:r>
            <a:endParaRPr lang="es-MX" sz="1100" dirty="0">
              <a:latin typeface="Arial Rounded MT Bold" panose="020F0704030504030204" pitchFamily="34" charset="0"/>
            </a:endParaRPr>
          </a:p>
        </p:txBody>
      </p:sp>
      <p:sp>
        <p:nvSpPr>
          <p:cNvPr id="20" name="Rectangle 23"/>
          <p:cNvSpPr>
            <a:spLocks noChangeArrowheads="1"/>
          </p:cNvSpPr>
          <p:nvPr/>
        </p:nvSpPr>
        <p:spPr bwMode="auto">
          <a:xfrm>
            <a:off x="1762760" y="1619672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Diseño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</a:t>
            </a: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Gráfico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– BRIO CREATIVO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746781" y="1807693"/>
            <a:ext cx="1931670" cy="1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Enero</a:t>
            </a: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 – </a:t>
            </a:r>
            <a:r>
              <a:rPr lang="en-US" sz="1050" b="1" dirty="0" err="1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Octubre</a:t>
            </a: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 2009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Text Box 198"/>
          <p:cNvSpPr txBox="1">
            <a:spLocks noChangeArrowheads="1"/>
          </p:cNvSpPr>
          <p:nvPr/>
        </p:nvSpPr>
        <p:spPr bwMode="auto">
          <a:xfrm>
            <a:off x="1628800" y="2016570"/>
            <a:ext cx="5083291" cy="97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Diseño de ilustraciones, avisos, artículos y publicidad en general.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Generación de contenido digital y multimedia.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Creatividad para propuestas de logotipos, Identidad de Marca e Identidad Empresarial.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s-MX" sz="1000" spc="10" dirty="0">
              <a:solidFill>
                <a:srgbClr val="7E8185"/>
              </a:solidFill>
              <a:latin typeface="Lato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s-MX" sz="1000" spc="10" dirty="0">
              <a:solidFill>
                <a:srgbClr val="7E8185"/>
              </a:solidFill>
              <a:latin typeface="Lato"/>
            </a:endParaRPr>
          </a:p>
        </p:txBody>
      </p:sp>
      <p:sp>
        <p:nvSpPr>
          <p:cNvPr id="12" name="Rectangle 23"/>
          <p:cNvSpPr>
            <a:spLocks noChangeArrowheads="1"/>
          </p:cNvSpPr>
          <p:nvPr/>
        </p:nvSpPr>
        <p:spPr bwMode="auto">
          <a:xfrm>
            <a:off x="1780089" y="2915816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Asistente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de </a:t>
            </a: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Sistemas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</a:t>
            </a:r>
            <a:r>
              <a:rPr lang="en-US" sz="1050" b="1" dirty="0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– </a:t>
            </a:r>
            <a:r>
              <a:rPr lang="en-US" sz="1050" b="1" dirty="0" err="1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TVeez</a:t>
            </a:r>
            <a:r>
              <a:rPr lang="en-US" sz="1050" b="1" dirty="0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 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22"/>
          <p:cNvSpPr>
            <a:spLocks noChangeArrowheads="1"/>
          </p:cNvSpPr>
          <p:nvPr/>
        </p:nvSpPr>
        <p:spPr bwMode="auto">
          <a:xfrm>
            <a:off x="1764110" y="3103837"/>
            <a:ext cx="1931670" cy="1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Enero</a:t>
            </a: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 – </a:t>
            </a:r>
            <a:r>
              <a:rPr lang="en-US" sz="1050" b="1" dirty="0" err="1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Octubre</a:t>
            </a: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 2009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 Box 198"/>
          <p:cNvSpPr txBox="1">
            <a:spLocks noChangeArrowheads="1"/>
          </p:cNvSpPr>
          <p:nvPr/>
        </p:nvSpPr>
        <p:spPr bwMode="auto">
          <a:xfrm>
            <a:off x="1646129" y="3312714"/>
            <a:ext cx="5083291" cy="97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Asistente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 de sistemas en proyectos de monitoreo a distancia de equipos y mercadeo por SMS.</a:t>
            </a:r>
            <a:endParaRPr lang="es-MX" sz="1000" spc="10" dirty="0">
              <a:solidFill>
                <a:srgbClr val="7E8185"/>
              </a:solidFill>
              <a:latin typeface="Lato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Mantenimiento preventivo y correctivo a los sistemas existentes.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Programación y desarrollo de software.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Análisis de información.</a:t>
            </a:r>
          </a:p>
          <a:p>
            <a:pPr lvl="0"/>
            <a:endParaRPr lang="es-MX" sz="1000" spc="10" dirty="0">
              <a:solidFill>
                <a:srgbClr val="7E8185"/>
              </a:solidFill>
              <a:latin typeface="Lato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s-MX" sz="1000" spc="10" dirty="0">
              <a:solidFill>
                <a:srgbClr val="7E8185"/>
              </a:solidFill>
              <a:latin typeface="Lato"/>
            </a:endParaRPr>
          </a:p>
        </p:txBody>
      </p:sp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1780089" y="4283968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Asistente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de </a:t>
            </a:r>
            <a:r>
              <a:rPr lang="en-US" sz="1050" b="1" dirty="0" err="1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Redes</a:t>
            </a: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 </a:t>
            </a:r>
            <a:r>
              <a:rPr lang="en-US" sz="1050" b="1" dirty="0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– </a:t>
            </a:r>
            <a:r>
              <a:rPr lang="en-US" sz="1050" b="1" dirty="0">
                <a:solidFill>
                  <a:srgbClr val="31AFD8"/>
                </a:solidFill>
                <a:latin typeface="Lato Black"/>
                <a:ea typeface="Calibri" panose="020F0502020204030204" pitchFamily="34" charset="0"/>
                <a:cs typeface="Lato Black"/>
              </a:rPr>
              <a:t>ITESM Colima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1764110" y="4471989"/>
            <a:ext cx="1931670" cy="1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>
                <a:solidFill>
                  <a:srgbClr val="6D6E71"/>
                </a:solidFill>
                <a:effectLst/>
                <a:latin typeface="Lato"/>
                <a:ea typeface="Calibri" panose="020F0502020204030204" pitchFamily="34" charset="0"/>
                <a:cs typeface="Lato"/>
              </a:rPr>
              <a:t>Agosto 2002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 Box 198"/>
          <p:cNvSpPr txBox="1">
            <a:spLocks noChangeArrowheads="1"/>
          </p:cNvSpPr>
          <p:nvPr/>
        </p:nvSpPr>
        <p:spPr bwMode="auto">
          <a:xfrm>
            <a:off x="1646129" y="4680866"/>
            <a:ext cx="5083291" cy="97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Participación activa en 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Instalación física de la red del Campus, en ampliaciones para aulas y nuevo auditorio.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Cableado de redes de voz y datos.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Configuración básica de LAN y </a:t>
            </a:r>
            <a:r>
              <a:rPr lang="es-MX" sz="1000" spc="10" dirty="0" err="1">
                <a:solidFill>
                  <a:srgbClr val="7E8185"/>
                </a:solidFill>
                <a:latin typeface="Lato"/>
              </a:rPr>
              <a:t>WiFi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.</a:t>
            </a:r>
            <a:endParaRPr lang="es-MX" sz="1000" spc="10" dirty="0">
              <a:solidFill>
                <a:srgbClr val="7E8185"/>
              </a:solidFill>
              <a:latin typeface="Lato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endParaRPr lang="es-MX" sz="1000" spc="10" dirty="0">
              <a:solidFill>
                <a:srgbClr val="7E8185"/>
              </a:solidFill>
              <a:latin typeface="Lato"/>
            </a:endParaRPr>
          </a:p>
        </p:txBody>
      </p:sp>
      <p:sp>
        <p:nvSpPr>
          <p:cNvPr id="19" name="Rectangle 99"/>
          <p:cNvSpPr>
            <a:spLocks noChangeArrowheads="1"/>
          </p:cNvSpPr>
          <p:nvPr/>
        </p:nvSpPr>
        <p:spPr bwMode="auto">
          <a:xfrm>
            <a:off x="116632" y="1763688"/>
            <a:ext cx="730649" cy="203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300" b="1" spc="30" dirty="0">
                <a:solidFill>
                  <a:srgbClr val="414042"/>
                </a:solidFill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HOBBIES</a:t>
            </a:r>
            <a:endParaRPr lang="es-MX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1" name="Conector recto 20"/>
          <p:cNvCxnSpPr>
            <a:cxnSpLocks/>
          </p:cNvCxnSpPr>
          <p:nvPr/>
        </p:nvCxnSpPr>
        <p:spPr>
          <a:xfrm>
            <a:off x="116632" y="2051720"/>
            <a:ext cx="504056" cy="0"/>
          </a:xfrm>
          <a:prstGeom prst="line">
            <a:avLst/>
          </a:prstGeom>
          <a:ln w="3492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8" descr="Image result for dog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524" y="2219969"/>
            <a:ext cx="302400" cy="30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5" descr="Related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04" y="2617631"/>
            <a:ext cx="396543" cy="323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830" y="2663980"/>
            <a:ext cx="323844" cy="323844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51" y="2229170"/>
            <a:ext cx="257440" cy="257440"/>
          </a:xfrm>
          <a:prstGeom prst="rect">
            <a:avLst/>
          </a:prstGeom>
        </p:spPr>
      </p:pic>
      <p:sp>
        <p:nvSpPr>
          <p:cNvPr id="31" name="Rectangle 25"/>
          <p:cNvSpPr>
            <a:spLocks noChangeArrowheads="1"/>
          </p:cNvSpPr>
          <p:nvPr/>
        </p:nvSpPr>
        <p:spPr bwMode="auto">
          <a:xfrm>
            <a:off x="1772816" y="7236296"/>
            <a:ext cx="1168077" cy="250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none" lIns="0" tIns="0" rIns="0" bIns="0" anchor="t" anchorCtr="0" upright="1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spc="30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LENGUAJES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2" name="Conector recto 31"/>
          <p:cNvCxnSpPr>
            <a:cxnSpLocks/>
          </p:cNvCxnSpPr>
          <p:nvPr/>
        </p:nvCxnSpPr>
        <p:spPr>
          <a:xfrm>
            <a:off x="1772816" y="7511649"/>
            <a:ext cx="261749" cy="0"/>
          </a:xfrm>
          <a:prstGeom prst="line">
            <a:avLst/>
          </a:prstGeom>
          <a:ln w="41275">
            <a:solidFill>
              <a:srgbClr val="31AF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n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82" y="2861703"/>
            <a:ext cx="414854" cy="414854"/>
          </a:xfrm>
          <a:prstGeom prst="rect">
            <a:avLst/>
          </a:prstGeom>
        </p:spPr>
      </p:pic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780089" y="5508104"/>
            <a:ext cx="5105295" cy="153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>
                <a:solidFill>
                  <a:srgbClr val="31AFD8"/>
                </a:solidFill>
                <a:effectLst/>
                <a:latin typeface="Lato Black"/>
                <a:ea typeface="Calibri" panose="020F0502020204030204" pitchFamily="34" charset="0"/>
                <a:cs typeface="Lato Black"/>
              </a:rPr>
              <a:t>EXPERIENCIA ADICIONAL</a:t>
            </a:r>
            <a:endParaRPr lang="es-MX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Text Box 198"/>
          <p:cNvSpPr txBox="1">
            <a:spLocks noChangeArrowheads="1"/>
          </p:cNvSpPr>
          <p:nvPr/>
        </p:nvSpPr>
        <p:spPr bwMode="auto">
          <a:xfrm>
            <a:off x="1646129" y="5724128"/>
            <a:ext cx="5083291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b="1" spc="10" dirty="0" err="1">
                <a:solidFill>
                  <a:srgbClr val="7E8185"/>
                </a:solidFill>
                <a:latin typeface="Lato"/>
              </a:rPr>
              <a:t>Kiosko</a:t>
            </a:r>
            <a:r>
              <a:rPr lang="es-MX" sz="1000" b="1" spc="10" dirty="0">
                <a:solidFill>
                  <a:srgbClr val="7E8185"/>
                </a:solidFill>
                <a:latin typeface="Lato"/>
              </a:rPr>
              <a:t> 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(octubre 2009 - agosto 2014) Responsable de Turno.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b="1" spc="10" dirty="0" err="1">
                <a:solidFill>
                  <a:srgbClr val="7E8185"/>
                </a:solidFill>
                <a:latin typeface="Lato"/>
              </a:rPr>
              <a:t>Hispanic</a:t>
            </a:r>
            <a:r>
              <a:rPr lang="es-MX" sz="1000" b="1" spc="10" dirty="0">
                <a:solidFill>
                  <a:srgbClr val="7E8185"/>
                </a:solidFill>
                <a:latin typeface="Lato"/>
              </a:rPr>
              <a:t> </a:t>
            </a:r>
            <a:r>
              <a:rPr lang="es-MX" sz="1000" b="1" spc="10" dirty="0" err="1">
                <a:solidFill>
                  <a:srgbClr val="7E8185"/>
                </a:solidFill>
                <a:latin typeface="Lato"/>
              </a:rPr>
              <a:t>Teleservices</a:t>
            </a:r>
            <a:r>
              <a:rPr lang="es-MX" sz="1000" b="1" spc="10" dirty="0">
                <a:solidFill>
                  <a:srgbClr val="7E8185"/>
                </a:solidFill>
                <a:latin typeface="Lato"/>
              </a:rPr>
              <a:t> 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(agosto 2007) : Representante  de atención al cliente en campaña para la compañía de </a:t>
            </a:r>
            <a:r>
              <a:rPr lang="es-MX" sz="1000" spc="10" dirty="0" err="1">
                <a:solidFill>
                  <a:srgbClr val="7E8185"/>
                </a:solidFill>
                <a:latin typeface="Lato"/>
              </a:rPr>
              <a:t>telecable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 Comcast.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spc="10" dirty="0">
                <a:solidFill>
                  <a:srgbClr val="7E8185"/>
                </a:solidFill>
                <a:latin typeface="Lato"/>
              </a:rPr>
              <a:t>AIRHSA (mayo 2007): Representante de atención al cliente en campaña para la compañía celular </a:t>
            </a:r>
            <a:r>
              <a:rPr lang="es-MX" sz="1000" spc="10" dirty="0" err="1">
                <a:solidFill>
                  <a:srgbClr val="7E8185"/>
                </a:solidFill>
                <a:latin typeface="Lato"/>
              </a:rPr>
              <a:t>Cingular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b="1" spc="10" dirty="0">
                <a:solidFill>
                  <a:srgbClr val="7E8185"/>
                </a:solidFill>
                <a:latin typeface="Lato"/>
              </a:rPr>
              <a:t>ITESM Campus Colima 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(1999 – 2004), participante, maestro y organizador en el evento </a:t>
            </a:r>
            <a:r>
              <a:rPr lang="es-MX" sz="1000" spc="10" dirty="0" err="1">
                <a:solidFill>
                  <a:srgbClr val="7E8185"/>
                </a:solidFill>
                <a:latin typeface="Lato"/>
              </a:rPr>
              <a:t>Crececamp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 (curso de verano para niños con capacidades diferentes).</a:t>
            </a:r>
          </a:p>
          <a:p>
            <a:pPr marL="171450" lvl="0" indent="-171450" algn="just">
              <a:buFont typeface="Wingdings" panose="05000000000000000000" pitchFamily="2" charset="2"/>
              <a:buChar char="ü"/>
            </a:pPr>
            <a:r>
              <a:rPr lang="es-MX" sz="1000" b="1" spc="10" dirty="0">
                <a:solidFill>
                  <a:srgbClr val="7E8185"/>
                </a:solidFill>
                <a:latin typeface="Lato"/>
              </a:rPr>
              <a:t>ITESM Campus Colima </a:t>
            </a:r>
            <a:r>
              <a:rPr lang="es-MX" sz="1000" spc="10" dirty="0">
                <a:solidFill>
                  <a:srgbClr val="7E8185"/>
                </a:solidFill>
                <a:latin typeface="Lato"/>
              </a:rPr>
              <a:t>(1999 – 2004), coordinador de staff técnico del campus.</a:t>
            </a:r>
          </a:p>
        </p:txBody>
      </p:sp>
      <p:sp>
        <p:nvSpPr>
          <p:cNvPr id="37" name="Rectángulo 36"/>
          <p:cNvSpPr/>
          <p:nvPr/>
        </p:nvSpPr>
        <p:spPr>
          <a:xfrm>
            <a:off x="1748587" y="7667983"/>
            <a:ext cx="2962384" cy="1440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8" name="Rectángulo 37"/>
          <p:cNvSpPr/>
          <p:nvPr/>
        </p:nvSpPr>
        <p:spPr>
          <a:xfrm>
            <a:off x="1743472" y="7968333"/>
            <a:ext cx="2962384" cy="1440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Rectángulo 38"/>
          <p:cNvSpPr/>
          <p:nvPr/>
        </p:nvSpPr>
        <p:spPr>
          <a:xfrm>
            <a:off x="1743927" y="8278517"/>
            <a:ext cx="2962384" cy="1440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Rectángulo 39"/>
          <p:cNvSpPr/>
          <p:nvPr/>
        </p:nvSpPr>
        <p:spPr>
          <a:xfrm>
            <a:off x="1741909" y="8597934"/>
            <a:ext cx="2962384" cy="1440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1" name="Rectangle 156"/>
          <p:cNvSpPr>
            <a:spLocks noChangeArrowheads="1"/>
          </p:cNvSpPr>
          <p:nvPr/>
        </p:nvSpPr>
        <p:spPr bwMode="auto">
          <a:xfrm>
            <a:off x="4874221" y="7668344"/>
            <a:ext cx="1003051" cy="21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10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endParaRPr lang="es-ES" sz="100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2" name="Rectangle 156"/>
          <p:cNvSpPr>
            <a:spLocks noChangeArrowheads="1"/>
          </p:cNvSpPr>
          <p:nvPr/>
        </p:nvSpPr>
        <p:spPr bwMode="auto">
          <a:xfrm>
            <a:off x="4874221" y="7956376"/>
            <a:ext cx="1003051" cy="21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100" b="1" dirty="0" err="1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.Net</a:t>
            </a:r>
            <a:endParaRPr lang="es-ES" sz="100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Rectangle 156"/>
          <p:cNvSpPr>
            <a:spLocks noChangeArrowheads="1"/>
          </p:cNvSpPr>
          <p:nvPr/>
        </p:nvSpPr>
        <p:spPr bwMode="auto">
          <a:xfrm>
            <a:off x="4869160" y="8244408"/>
            <a:ext cx="1003051" cy="21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10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C#</a:t>
            </a:r>
            <a:endParaRPr lang="es-ES" sz="100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Rectangle 156"/>
          <p:cNvSpPr>
            <a:spLocks noChangeArrowheads="1"/>
          </p:cNvSpPr>
          <p:nvPr/>
        </p:nvSpPr>
        <p:spPr bwMode="auto">
          <a:xfrm>
            <a:off x="4869160" y="8532440"/>
            <a:ext cx="1003051" cy="216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ES" sz="1100" b="1" dirty="0">
                <a:solidFill>
                  <a:srgbClr val="58595B"/>
                </a:solidFill>
                <a:effectLst/>
                <a:latin typeface="Lato Black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endParaRPr lang="es-ES" sz="1000" b="1" dirty="0">
              <a:solidFill>
                <a:srgbClr val="58595B"/>
              </a:solidFill>
              <a:effectLst/>
              <a:latin typeface="Lato Black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5" name="Rectángulo 44"/>
          <p:cNvSpPr/>
          <p:nvPr/>
        </p:nvSpPr>
        <p:spPr>
          <a:xfrm>
            <a:off x="1748587" y="7667984"/>
            <a:ext cx="1680413" cy="151668"/>
          </a:xfrm>
          <a:prstGeom prst="rect">
            <a:avLst/>
          </a:prstGeom>
          <a:solidFill>
            <a:srgbClr val="31A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6" name="Rectángulo 45"/>
          <p:cNvSpPr/>
          <p:nvPr/>
        </p:nvSpPr>
        <p:spPr>
          <a:xfrm>
            <a:off x="1733417" y="7968333"/>
            <a:ext cx="960936" cy="141833"/>
          </a:xfrm>
          <a:prstGeom prst="rect">
            <a:avLst/>
          </a:prstGeom>
          <a:solidFill>
            <a:srgbClr val="31A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7" name="Rectángulo 46"/>
          <p:cNvSpPr/>
          <p:nvPr/>
        </p:nvSpPr>
        <p:spPr>
          <a:xfrm>
            <a:off x="1747200" y="8279608"/>
            <a:ext cx="2041840" cy="141833"/>
          </a:xfrm>
          <a:prstGeom prst="rect">
            <a:avLst/>
          </a:prstGeom>
          <a:solidFill>
            <a:srgbClr val="31A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Rectángulo 47"/>
          <p:cNvSpPr/>
          <p:nvPr/>
        </p:nvSpPr>
        <p:spPr>
          <a:xfrm>
            <a:off x="1747200" y="8597935"/>
            <a:ext cx="1681800" cy="150530"/>
          </a:xfrm>
          <a:prstGeom prst="rect">
            <a:avLst/>
          </a:prstGeom>
          <a:solidFill>
            <a:srgbClr val="31AF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110129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601</Words>
  <Application>Microsoft Office PowerPoint</Application>
  <PresentationFormat>Presentación en pantalla (4:3)</PresentationFormat>
  <Paragraphs>89</Paragraphs>
  <Slides>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0" baseType="lpstr">
      <vt:lpstr>Arial</vt:lpstr>
      <vt:lpstr>Arial Rounded MT Bold</vt:lpstr>
      <vt:lpstr>Calibri</vt:lpstr>
      <vt:lpstr>Lato</vt:lpstr>
      <vt:lpstr>Lato Black</vt:lpstr>
      <vt:lpstr>Times New Roman</vt:lpstr>
      <vt:lpstr>Wingdings</vt:lpstr>
      <vt:lpstr>Tema de Office</vt:lpstr>
      <vt:lpstr>Presentación de PowerPoint</vt:lpstr>
      <vt:lpstr>Presentación de PowerPoint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Administrativo</dc:creator>
  <cp:lastModifiedBy>NOESIS</cp:lastModifiedBy>
  <cp:revision>79</cp:revision>
  <dcterms:created xsi:type="dcterms:W3CDTF">2015-11-26T23:06:07Z</dcterms:created>
  <dcterms:modified xsi:type="dcterms:W3CDTF">2017-03-31T15:51:19Z</dcterms:modified>
</cp:coreProperties>
</file>