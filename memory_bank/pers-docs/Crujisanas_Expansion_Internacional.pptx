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664" autoAdjust="0"/>
  </p:normalViewPr>
  <p:slideViewPr>
    <p:cSldViewPr snapToGrid="0" snapToObjects="1">
      <p:cViewPr varScale="1">
        <p:scale>
          <a:sx n="77" d="100"/>
          <a:sy n="77" d="100"/>
        </p:scale>
        <p:origin x="348"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520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Buenos días/tardes. Mi presentación analiza el potencial de expansión internacional de Crujisanas, una marca mexicana de snacks saludables hechos con vegetales de raíz. A lo largo de los próximos minutos les mostraré por qué este producto tiene condiciones para exportarse, hacia qué mercado, y bajo qué estrategia, considerando el complejo panorama económico de 2026.</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Así está organizada la presentación: partiremos del contexto económico de 2026, presentaremos la empresa, justificaremos por qué es un buen candidato de exportación, elegiremos un mercado, analizaremos su entorno, propondremos una estrategia de entrada y cerraremos con retos y conclusiones.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2026 se </a:t>
            </a:r>
            <a:r>
              <a:rPr dirty="0" err="1"/>
              <a:t>caracteriza</a:t>
            </a:r>
            <a:r>
              <a:rPr dirty="0"/>
              <a:t> por </a:t>
            </a:r>
            <a:r>
              <a:rPr dirty="0" err="1"/>
              <a:t>inflación</a:t>
            </a:r>
            <a:r>
              <a:rPr dirty="0"/>
              <a:t> </a:t>
            </a:r>
            <a:r>
              <a:rPr dirty="0" err="1"/>
              <a:t>persistente</a:t>
            </a:r>
            <a:r>
              <a:rPr dirty="0"/>
              <a:t> </a:t>
            </a:r>
            <a:r>
              <a:rPr dirty="0" err="1"/>
              <a:t>aunque</a:t>
            </a:r>
            <a:r>
              <a:rPr dirty="0"/>
              <a:t> </a:t>
            </a:r>
            <a:r>
              <a:rPr dirty="0" err="1"/>
              <a:t>en</a:t>
            </a:r>
            <a:r>
              <a:rPr dirty="0"/>
              <a:t> </a:t>
            </a:r>
            <a:r>
              <a:rPr dirty="0" err="1"/>
              <a:t>moderación</a:t>
            </a:r>
            <a:r>
              <a:rPr dirty="0"/>
              <a:t>, un peso </a:t>
            </a:r>
            <a:r>
              <a:rPr dirty="0" err="1"/>
              <a:t>mexicano</a:t>
            </a:r>
            <a:r>
              <a:rPr dirty="0"/>
              <a:t> </a:t>
            </a:r>
            <a:r>
              <a:rPr dirty="0" err="1"/>
              <a:t>volátil</a:t>
            </a:r>
            <a:r>
              <a:rPr dirty="0"/>
              <a:t> </a:t>
            </a:r>
            <a:r>
              <a:rPr dirty="0" err="1"/>
              <a:t>frente</a:t>
            </a:r>
            <a:r>
              <a:rPr dirty="0"/>
              <a:t> al </a:t>
            </a:r>
            <a:r>
              <a:rPr dirty="0" err="1"/>
              <a:t>dólar</a:t>
            </a:r>
            <a:r>
              <a:rPr dirty="0"/>
              <a:t>, y </a:t>
            </a:r>
            <a:r>
              <a:rPr dirty="0" err="1"/>
              <a:t>tensiones</a:t>
            </a:r>
            <a:r>
              <a:rPr dirty="0"/>
              <a:t> </a:t>
            </a:r>
            <a:r>
              <a:rPr dirty="0" err="1"/>
              <a:t>comerciales</a:t>
            </a:r>
            <a:r>
              <a:rPr dirty="0"/>
              <a:t> por la </a:t>
            </a:r>
            <a:r>
              <a:rPr dirty="0" err="1"/>
              <a:t>renegociación</a:t>
            </a:r>
            <a:r>
              <a:rPr dirty="0"/>
              <a:t> del T-MEC y </a:t>
            </a:r>
            <a:r>
              <a:rPr dirty="0" err="1"/>
              <a:t>políticas</a:t>
            </a:r>
            <a:r>
              <a:rPr dirty="0"/>
              <a:t> </a:t>
            </a:r>
            <a:r>
              <a:rPr dirty="0" err="1"/>
              <a:t>más</a:t>
            </a:r>
            <a:r>
              <a:rPr dirty="0"/>
              <a:t> </a:t>
            </a:r>
            <a:r>
              <a:rPr dirty="0" err="1"/>
              <a:t>proteccionistas</a:t>
            </a:r>
            <a:r>
              <a:rPr dirty="0"/>
              <a:t> de </a:t>
            </a:r>
            <a:r>
              <a:rPr dirty="0" err="1"/>
              <a:t>Estados</a:t>
            </a:r>
            <a:r>
              <a:rPr dirty="0"/>
              <a:t> Unidos. </a:t>
            </a:r>
            <a:r>
              <a:rPr dirty="0" err="1"/>
              <a:t>Esto</a:t>
            </a:r>
            <a:r>
              <a:rPr dirty="0"/>
              <a:t> no </a:t>
            </a:r>
            <a:r>
              <a:rPr dirty="0" err="1"/>
              <a:t>elimina</a:t>
            </a:r>
            <a:r>
              <a:rPr dirty="0"/>
              <a:t> las </a:t>
            </a:r>
            <a:r>
              <a:rPr dirty="0" err="1"/>
              <a:t>oportunidades</a:t>
            </a:r>
            <a:r>
              <a:rPr dirty="0"/>
              <a:t> de </a:t>
            </a:r>
            <a:r>
              <a:rPr dirty="0" err="1"/>
              <a:t>exportación</a:t>
            </a:r>
            <a:r>
              <a:rPr dirty="0"/>
              <a:t>, </a:t>
            </a:r>
            <a:r>
              <a:rPr dirty="0" err="1"/>
              <a:t>pero</a:t>
            </a:r>
            <a:r>
              <a:rPr dirty="0"/>
              <a:t> </a:t>
            </a:r>
            <a:r>
              <a:rPr dirty="0" err="1"/>
              <a:t>obliga</a:t>
            </a:r>
            <a:r>
              <a:rPr dirty="0"/>
              <a:t> a </a:t>
            </a:r>
            <a:r>
              <a:rPr dirty="0" err="1"/>
              <a:t>privilegiar</a:t>
            </a:r>
            <a:r>
              <a:rPr dirty="0"/>
              <a:t> mercados </a:t>
            </a:r>
            <a:r>
              <a:rPr dirty="0" err="1"/>
              <a:t>cercanos</a:t>
            </a:r>
            <a:r>
              <a:rPr dirty="0"/>
              <a:t> y </a:t>
            </a:r>
            <a:r>
              <a:rPr dirty="0" err="1"/>
              <a:t>estables</a:t>
            </a:r>
            <a:r>
              <a:rPr dirty="0"/>
              <a:t> por </a:t>
            </a:r>
            <a:r>
              <a:rPr dirty="0" err="1"/>
              <a:t>encima</a:t>
            </a:r>
            <a:r>
              <a:rPr dirty="0"/>
              <a:t> de mercados </a:t>
            </a:r>
            <a:r>
              <a:rPr dirty="0" err="1"/>
              <a:t>grandes</a:t>
            </a:r>
            <a:r>
              <a:rPr dirty="0"/>
              <a:t> </a:t>
            </a:r>
            <a:r>
              <a:rPr dirty="0" err="1"/>
              <a:t>pero</a:t>
            </a:r>
            <a:r>
              <a:rPr dirty="0"/>
              <a:t> </a:t>
            </a:r>
            <a:r>
              <a:rPr dirty="0" err="1"/>
              <a:t>lejanos</a:t>
            </a:r>
            <a:r>
              <a:rPr dirty="0"/>
              <a:t> y </a:t>
            </a:r>
            <a:r>
              <a:rPr dirty="0" err="1"/>
              <a:t>riesgosos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Crujisanas es una marca mexicana de snacks saludables elaborados con vegetales de raíz —jícama, betabel, camote y zanahoria— horneados en lugar de fritos, sin conservadores ni azúcares añadidas. Nació hace casi cinco años dentro de la cafetería de un centro de yoga, fundada por Elena Salame junto a un pequeño equipo de socias.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origen de Crujisanas responde a un problema estructural: México ocupa el primer lugar mundial en obesidad infantil. La marca ganó visibilidad nacional en Shark Tank México y se diferencia claramente de Sabritas y Barcel, que se enfocan en papa, maíz y trigo, mientras que Crujisanas usa vegetales de raíz con más fibra y menor densidad calórica, con una producción artesanal que la posiciona como premium.</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Cuatro elementos justifican su potencial: calidad, con un diseño premium; innovación, al enfocarse en vegetales de raíz, algo poco explotado en snacks saludables; tradición, al retomar ingredientes típicamente mexicanos en un formato moderno; y sustentabilidad, por el uso de cultivos de menor huella hídrica y procesos de horneado.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Además, Crujisanas proyecta prestigio con una estética tipo gourmet, responde a tendencias globales de alimentación consciente, y apela a la identidad mexicana como argumento de autenticidad. Un dato clave: según su fundadora, el precio de Crujisanas es hasta 25% menor al de las marcas líderes del segmento saludable, una ventaja competitiva relevante si se mantiene esa estructura de costos al exportar.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Elegimos Guatemala como mercado de entrada. Es un país fronterizo, accesible por vía terrestre, lo que reduce el riesgo logístico frente a mercados transoceánicos. Además forma parte del bloque CA-4, lo que la convierte en una puerta de entrada a todo Centroamérica. Comparte idioma y cultura con México, y su mercado de snacks saludables está en crecimiento en zonas urbanas.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cultura e idioma, Guatemala y México son prácticamente idénticos, lo que facilita mucho la adaptación. En economía, Guatemala crece cerca de 3.3% anual, pero con una desigualdad muy marcada, por lo que la estrategia debe enfocarse en un segmento urbano de clase media, no en una penetración masiva. Y en competencia, Sabritas y Barcel ya tienen presencia consolidada, así que Crujisanas debe diferenciarse claramente como opción saludable y premium.</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regulación, Guatemala exige etiquetado nutricional bajo el RTCA y discute una ley de sellos de advertencia frontal; si se aprueba, Crujisanas ya estaría preparada por cumplir la norma mexicana. En tecnología, el comercio electrónico y las redes sociales crecen, permitiendo una entrada digital de bajo costo. Las tendencias de consumo saludable favorecen al producto, y aunque el país queda fuera de la disputa arancelaria entre México y Estados Unidos, sí puede verse afectado por el tipo de cambio y el costo de insumos importados.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propuesta de entrada es gradual: en producto, se mantiene el diseño pero se ofrecen porciones más pequeñas y accesibles; en precio, se ajusta al poder adquisitivo local sin perder el posicionamiento premium; en plaza, se recomienda trabajar con un distribuidor local que ya tenga relación con supermercados, en lugar de distribución directa; y en promoción, se apuesta por redes sociales y degustaciones en punto de venta, dado que es una marca desconocida en ese mercado.</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principales retos son cinco: enfrentar competencia consolidada con enorme poder de distribución; un mercado meta con fuerte desigualdad económica, que reduce el segmento realmente accesible; la incertidumbre macroeconómica de 2026, que exige revisar precios constantemente; el cumplimiento regulatorio ante un posible etiquetado frontal; y el reto operativo de escalar una producción hoy artesanal hacia volúmenes de exportación sostenidos.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conclusión, aprendimos que un producto no necesita ser de una multinacional para tener potencial exportador: basta una propuesta de valor clara —en este caso, salud, identidad mexicana y precio competitivo— y un mercado que la necesite. También aprendimos que la cercanía geográfica y cultural puede ser tan importante como el tamaño del mercado en un entorno incierto como 2026. Consideramos que la expansión hacia Guatemala es viable, siempre que Crujisanas mantenga su posicionamiento premium y no intente competir en volumen contra Sabritas o Barcel.</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Muchas gracias por su atención. Quedo abierta/o a preguntas sobre el análisis, el mercado elegido o la estrategia propuesta.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1818"/>
        </a:solidFill>
        <a:effectLst/>
      </p:bgPr>
    </p:bg>
    <p:spTree>
      <p:nvGrpSpPr>
        <p:cNvPr id="1" name=""/>
        <p:cNvGrpSpPr/>
        <p:nvPr/>
      </p:nvGrpSpPr>
      <p:grpSpPr>
        <a:xfrm>
          <a:off x="0" y="0"/>
          <a:ext cx="0" cy="0"/>
          <a:chOff x="0" y="0"/>
          <a:chExt cx="0" cy="0"/>
        </a:xfrm>
      </p:grpSpPr>
      <p:sp>
        <p:nvSpPr>
          <p:cNvPr id="2" name="Isosceles Triangle 1"/>
          <p:cNvSpPr/>
          <p:nvPr/>
        </p:nvSpPr>
        <p:spPr>
          <a:xfrm rot="900000">
            <a:off x="9418320" y="5120640"/>
            <a:ext cx="2011680" cy="2011680"/>
          </a:xfrm>
          <a:prstGeom prst="triangle">
            <a:avLst/>
          </a:prstGeom>
          <a:solidFill>
            <a:srgbClr val="7A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Isosceles Triangle 2"/>
          <p:cNvSpPr/>
          <p:nvPr/>
        </p:nvSpPr>
        <p:spPr>
          <a:xfrm rot="21000000">
            <a:off x="10332720" y="4572000"/>
            <a:ext cx="1645920" cy="1645920"/>
          </a:xfrm>
          <a:prstGeom prst="triangle">
            <a:avLst/>
          </a:prstGeom>
          <a:solidFill>
            <a:srgbClr val="D9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Isosceles Triangle 3"/>
          <p:cNvSpPr/>
          <p:nvPr/>
        </p:nvSpPr>
        <p:spPr>
          <a:xfrm rot="2100000">
            <a:off x="9966960" y="5669280"/>
            <a:ext cx="1463040" cy="1463040"/>
          </a:xfrm>
          <a:prstGeom prst="triangle">
            <a:avLst/>
          </a:prstGeom>
          <a:solidFill>
            <a:srgbClr val="7A3B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37160" cy="6858000"/>
          </a:xfrm>
          <a:prstGeom prst="rect">
            <a:avLst/>
          </a:prstGeom>
          <a:solidFill>
            <a:srgbClr val="D9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103120"/>
            <a:ext cx="8229600" cy="457200"/>
          </a:xfrm>
          <a:prstGeom prst="rect">
            <a:avLst/>
          </a:prstGeom>
          <a:noFill/>
        </p:spPr>
        <p:txBody>
          <a:bodyPr wrap="square">
            <a:spAutoFit/>
          </a:bodyPr>
          <a:lstStyle/>
          <a:p>
            <a:pPr algn="l"/>
            <a:r>
              <a:rPr sz="1400" b="1" i="0">
                <a:solidFill>
                  <a:srgbClr val="7A9A5B"/>
                </a:solidFill>
                <a:latin typeface="Calibri"/>
              </a:rPr>
              <a:t>PROYECTO FINAL · MERCADOTECNIA INTERNACIONAL</a:t>
            </a:r>
          </a:p>
        </p:txBody>
      </p:sp>
      <p:sp>
        <p:nvSpPr>
          <p:cNvPr id="7" name="TextBox 6"/>
          <p:cNvSpPr txBox="1"/>
          <p:nvPr/>
        </p:nvSpPr>
        <p:spPr>
          <a:xfrm>
            <a:off x="594360" y="2468880"/>
            <a:ext cx="9144000" cy="1280160"/>
          </a:xfrm>
          <a:prstGeom prst="rect">
            <a:avLst/>
          </a:prstGeom>
          <a:noFill/>
        </p:spPr>
        <p:txBody>
          <a:bodyPr wrap="square">
            <a:spAutoFit/>
          </a:bodyPr>
          <a:lstStyle/>
          <a:p>
            <a:pPr algn="l"/>
            <a:r>
              <a:rPr sz="6400" b="1" i="0">
                <a:solidFill>
                  <a:srgbClr val="F3EEE3"/>
                </a:solidFill>
                <a:latin typeface="Calibri"/>
              </a:rPr>
              <a:t>CRUJISANAS</a:t>
            </a:r>
          </a:p>
        </p:txBody>
      </p:sp>
      <p:sp>
        <p:nvSpPr>
          <p:cNvPr id="8" name="TextBox 7"/>
          <p:cNvSpPr txBox="1"/>
          <p:nvPr/>
        </p:nvSpPr>
        <p:spPr>
          <a:xfrm>
            <a:off x="640080" y="3566160"/>
            <a:ext cx="8686800" cy="822960"/>
          </a:xfrm>
          <a:prstGeom prst="rect">
            <a:avLst/>
          </a:prstGeom>
          <a:noFill/>
        </p:spPr>
        <p:txBody>
          <a:bodyPr wrap="square">
            <a:spAutoFit/>
          </a:bodyPr>
          <a:lstStyle/>
          <a:p>
            <a:pPr algn="l"/>
            <a:r>
              <a:rPr sz="2000" b="0" i="0">
                <a:solidFill>
                  <a:srgbClr val="F3EEE3"/>
                </a:solidFill>
                <a:latin typeface="Calibri"/>
              </a:rPr>
              <a:t>De botana artesanal mexicana a marca con potencial</a:t>
            </a:r>
            <a:br/>
            <a:r>
              <a:t>de expansión internacional</a:t>
            </a:r>
          </a:p>
        </p:txBody>
      </p:sp>
      <p:sp>
        <p:nvSpPr>
          <p:cNvPr id="9" name="TextBox 8"/>
          <p:cNvSpPr txBox="1"/>
          <p:nvPr/>
        </p:nvSpPr>
        <p:spPr>
          <a:xfrm>
            <a:off x="640080" y="6035040"/>
            <a:ext cx="5486400" cy="457200"/>
          </a:xfrm>
          <a:prstGeom prst="rect">
            <a:avLst/>
          </a:prstGeom>
          <a:noFill/>
        </p:spPr>
        <p:txBody>
          <a:bodyPr wrap="square">
            <a:spAutoFit/>
          </a:bodyPr>
          <a:lstStyle/>
          <a:p>
            <a:pPr algn="l"/>
            <a:r>
              <a:rPr sz="1300" b="0" i="1">
                <a:solidFill>
                  <a:srgbClr val="2E2E2E"/>
                </a:solidFill>
                <a:latin typeface="Calibri"/>
              </a:rPr>
              <a:t>Caso de estudio · 2026</a:t>
            </a:r>
          </a:p>
        </p:txBody>
      </p:sp>
      <p:pic>
        <p:nvPicPr>
          <p:cNvPr id="10" name="Picture 2" descr="No hay ninguna descripción de la foto disponible.">
            <a:extLst>
              <a:ext uri="{FF2B5EF4-FFF2-40B4-BE49-F238E27FC236}">
                <a16:creationId xmlns:a16="http://schemas.microsoft.com/office/drawing/2014/main" id="{F74A4693-4678-47D3-A737-10DC8B226E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2545" y="720090"/>
            <a:ext cx="47720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81818"/>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7A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9601200" cy="822960"/>
          </a:xfrm>
          <a:prstGeom prst="rect">
            <a:avLst/>
          </a:prstGeom>
          <a:noFill/>
        </p:spPr>
        <p:txBody>
          <a:bodyPr wrap="square">
            <a:spAutoFit/>
          </a:bodyPr>
          <a:lstStyle/>
          <a:p>
            <a:pPr algn="l"/>
            <a:r>
              <a:rPr sz="3000" b="1" i="0">
                <a:solidFill>
                  <a:srgbClr val="F3EEE3"/>
                </a:solidFill>
                <a:latin typeface="Calibri"/>
              </a:rPr>
              <a:t>Contenido de la presentación</a:t>
            </a:r>
          </a:p>
        </p:txBody>
      </p:sp>
      <p:sp>
        <p:nvSpPr>
          <p:cNvPr id="4" name="Rectangle 3"/>
          <p:cNvSpPr/>
          <p:nvPr/>
        </p:nvSpPr>
        <p:spPr>
          <a:xfrm>
            <a:off x="594360" y="960120"/>
            <a:ext cx="1005840" cy="50800"/>
          </a:xfrm>
          <a:prstGeom prst="rect">
            <a:avLst/>
          </a:prstGeom>
          <a:solidFill>
            <a:srgbClr val="7A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645920"/>
            <a:ext cx="8229600" cy="4114800"/>
          </a:xfrm>
          <a:prstGeom prst="rect">
            <a:avLst/>
          </a:prstGeom>
          <a:noFill/>
        </p:spPr>
        <p:txBody>
          <a:bodyPr wrap="square">
            <a:spAutoFit/>
          </a:bodyPr>
          <a:lstStyle/>
          <a:p>
            <a:pPr>
              <a:lnSpc>
                <a:spcPct val="115000"/>
              </a:lnSpc>
              <a:spcAft>
                <a:spcPts val="1000"/>
              </a:spcAft>
            </a:pPr>
            <a:r>
              <a:rPr sz="2000">
                <a:solidFill>
                  <a:srgbClr val="F3EEE3"/>
                </a:solidFill>
                <a:latin typeface="Calibri"/>
              </a:rPr>
              <a:t>●  01  Contexto macroeconómico 2026</a:t>
            </a:r>
          </a:p>
          <a:p>
            <a:pPr>
              <a:lnSpc>
                <a:spcPct val="115000"/>
              </a:lnSpc>
              <a:spcAft>
                <a:spcPts val="1000"/>
              </a:spcAft>
            </a:pPr>
            <a:r>
              <a:rPr sz="2000">
                <a:solidFill>
                  <a:srgbClr val="F3EEE3"/>
                </a:solidFill>
                <a:latin typeface="Calibri"/>
              </a:rPr>
              <a:t>●  02  La empresa: Crujisanas</a:t>
            </a:r>
          </a:p>
          <a:p>
            <a:pPr>
              <a:lnSpc>
                <a:spcPct val="115000"/>
              </a:lnSpc>
              <a:spcAft>
                <a:spcPts val="1000"/>
              </a:spcAft>
            </a:pPr>
            <a:r>
              <a:rPr sz="2000">
                <a:solidFill>
                  <a:srgbClr val="F3EEE3"/>
                </a:solidFill>
                <a:latin typeface="Calibri"/>
              </a:rPr>
              <a:t>●  03  Justificación de la elección</a:t>
            </a:r>
          </a:p>
          <a:p>
            <a:pPr>
              <a:lnSpc>
                <a:spcPct val="115000"/>
              </a:lnSpc>
              <a:spcAft>
                <a:spcPts val="1000"/>
              </a:spcAft>
            </a:pPr>
            <a:r>
              <a:rPr sz="2000">
                <a:solidFill>
                  <a:srgbClr val="F3EEE3"/>
                </a:solidFill>
                <a:latin typeface="Calibri"/>
              </a:rPr>
              <a:t>●  04  Mercado seleccionado: Guatemala</a:t>
            </a:r>
          </a:p>
          <a:p>
            <a:pPr>
              <a:lnSpc>
                <a:spcPct val="115000"/>
              </a:lnSpc>
              <a:spcAft>
                <a:spcPts val="1000"/>
              </a:spcAft>
            </a:pPr>
            <a:r>
              <a:rPr sz="2000">
                <a:solidFill>
                  <a:srgbClr val="F3EEE3"/>
                </a:solidFill>
                <a:latin typeface="Calibri"/>
              </a:rPr>
              <a:t>●  05  Análisis del entorno</a:t>
            </a:r>
          </a:p>
          <a:p>
            <a:pPr>
              <a:lnSpc>
                <a:spcPct val="115000"/>
              </a:lnSpc>
              <a:spcAft>
                <a:spcPts val="1000"/>
              </a:spcAft>
            </a:pPr>
            <a:r>
              <a:rPr sz="2000">
                <a:solidFill>
                  <a:srgbClr val="F3EEE3"/>
                </a:solidFill>
                <a:latin typeface="Calibri"/>
              </a:rPr>
              <a:t>●  06  Propuesta de internacionalización</a:t>
            </a:r>
          </a:p>
          <a:p>
            <a:pPr>
              <a:lnSpc>
                <a:spcPct val="115000"/>
              </a:lnSpc>
              <a:spcAft>
                <a:spcPts val="1000"/>
              </a:spcAft>
            </a:pPr>
            <a:r>
              <a:rPr sz="2000">
                <a:solidFill>
                  <a:srgbClr val="F3EEE3"/>
                </a:solidFill>
                <a:latin typeface="Calibri"/>
              </a:rPr>
              <a:t>●  07  Retos y conclusiones</a:t>
            </a:r>
          </a:p>
        </p:txBody>
      </p:sp>
      <p:sp>
        <p:nvSpPr>
          <p:cNvPr id="6" name="TextBox 5"/>
          <p:cNvSpPr txBox="1"/>
          <p:nvPr/>
        </p:nvSpPr>
        <p:spPr>
          <a:xfrm>
            <a:off x="365760" y="6446520"/>
            <a:ext cx="6400800" cy="320040"/>
          </a:xfrm>
          <a:prstGeom prst="rect">
            <a:avLst/>
          </a:prstGeom>
          <a:noFill/>
        </p:spPr>
        <p:txBody>
          <a:bodyPr wrap="square">
            <a:spAutoFit/>
          </a:bodyPr>
          <a:lstStyle/>
          <a:p>
            <a:pPr algn="l"/>
            <a:r>
              <a:rPr sz="1000" b="0" i="0">
                <a:solidFill>
                  <a:srgbClr val="2E2E2E"/>
                </a:solidFill>
                <a:latin typeface="Calibri"/>
              </a:rPr>
              <a:t>CRUJISANAS  |  Mercadotecnia Internacional</a:t>
            </a:r>
          </a:p>
        </p:txBody>
      </p:sp>
      <p:sp>
        <p:nvSpPr>
          <p:cNvPr id="7" name="TextBox 6"/>
          <p:cNvSpPr txBox="1"/>
          <p:nvPr/>
        </p:nvSpPr>
        <p:spPr>
          <a:xfrm>
            <a:off x="11430000" y="6446520"/>
            <a:ext cx="457200" cy="320040"/>
          </a:xfrm>
          <a:prstGeom prst="rect">
            <a:avLst/>
          </a:prstGeom>
          <a:noFill/>
        </p:spPr>
        <p:txBody>
          <a:bodyPr wrap="square">
            <a:spAutoFit/>
          </a:bodyPr>
          <a:lstStyle/>
          <a:p>
            <a:pPr algn="r"/>
            <a:r>
              <a:rPr sz="1000" b="0" i="0">
                <a:solidFill>
                  <a:srgbClr val="2E2E2E"/>
                </a:solidFill>
                <a:latin typeface="Calibri"/>
              </a:rPr>
              <a:t>1</a:t>
            </a:r>
          </a:p>
        </p:txBody>
      </p:sp>
      <p:pic>
        <p:nvPicPr>
          <p:cNvPr id="3074" name="Picture 2" descr="No hay ninguna descripción de la foto disponible.">
            <a:extLst>
              <a:ext uri="{FF2B5EF4-FFF2-40B4-BE49-F238E27FC236}">
                <a16:creationId xmlns:a16="http://schemas.microsoft.com/office/drawing/2014/main" id="{8C41BAE5-D4DE-4C46-8FA0-0063BE0B9F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8170" y="350520"/>
            <a:ext cx="4876800" cy="6096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81818"/>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D9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515600" y="109728"/>
            <a:ext cx="1463040" cy="914400"/>
          </a:xfrm>
          <a:prstGeom prst="rect">
            <a:avLst/>
          </a:prstGeom>
          <a:noFill/>
        </p:spPr>
        <p:txBody>
          <a:bodyPr wrap="square">
            <a:spAutoFit/>
          </a:bodyPr>
          <a:lstStyle/>
          <a:p>
            <a:pPr algn="r"/>
            <a:r>
              <a:rPr sz="4800" b="1" i="0">
                <a:solidFill>
                  <a:srgbClr val="2E2E2E"/>
                </a:solidFill>
                <a:latin typeface="Calibri"/>
              </a:rPr>
              <a:t>01</a:t>
            </a:r>
          </a:p>
        </p:txBody>
      </p:sp>
      <p:sp>
        <p:nvSpPr>
          <p:cNvPr id="4" name="TextBox 3"/>
          <p:cNvSpPr txBox="1"/>
          <p:nvPr/>
        </p:nvSpPr>
        <p:spPr>
          <a:xfrm>
            <a:off x="548640" y="320040"/>
            <a:ext cx="9601200" cy="822960"/>
          </a:xfrm>
          <a:prstGeom prst="rect">
            <a:avLst/>
          </a:prstGeom>
          <a:noFill/>
        </p:spPr>
        <p:txBody>
          <a:bodyPr wrap="square">
            <a:spAutoFit/>
          </a:bodyPr>
          <a:lstStyle/>
          <a:p>
            <a:pPr algn="l"/>
            <a:r>
              <a:rPr sz="3000" b="1" i="0">
                <a:solidFill>
                  <a:srgbClr val="F3EEE3"/>
                </a:solidFill>
                <a:latin typeface="Calibri"/>
              </a:rPr>
              <a:t>Un 2026 con más cautela... y oportunidades</a:t>
            </a:r>
          </a:p>
        </p:txBody>
      </p:sp>
      <p:sp>
        <p:nvSpPr>
          <p:cNvPr id="5" name="Rectangle 4"/>
          <p:cNvSpPr/>
          <p:nvPr/>
        </p:nvSpPr>
        <p:spPr>
          <a:xfrm>
            <a:off x="594360" y="960120"/>
            <a:ext cx="1005840" cy="50800"/>
          </a:xfrm>
          <a:prstGeom prst="rect">
            <a:avLst/>
          </a:prstGeom>
          <a:solidFill>
            <a:srgbClr val="D9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371600"/>
            <a:ext cx="10515600" cy="731520"/>
          </a:xfrm>
          <a:prstGeom prst="rect">
            <a:avLst/>
          </a:prstGeom>
          <a:noFill/>
        </p:spPr>
        <p:txBody>
          <a:bodyPr wrap="square">
            <a:spAutoFit/>
          </a:bodyPr>
          <a:lstStyle/>
          <a:p>
            <a:pPr algn="l"/>
            <a:r>
              <a:rPr sz="1500" b="0" i="0">
                <a:solidFill>
                  <a:srgbClr val="F3EEE3"/>
                </a:solidFill>
                <a:latin typeface="Calibri"/>
              </a:rPr>
              <a:t>El entorno global exige elegir mercados cercanos, estables y con menor exposición a riesgo cambiario y logístico.</a:t>
            </a:r>
          </a:p>
        </p:txBody>
      </p:sp>
      <p:sp>
        <p:nvSpPr>
          <p:cNvPr id="7" name="Rectangle 6"/>
          <p:cNvSpPr/>
          <p:nvPr/>
        </p:nvSpPr>
        <p:spPr>
          <a:xfrm>
            <a:off x="640080" y="2377440"/>
            <a:ext cx="3291840" cy="2743200"/>
          </a:xfrm>
          <a:prstGeom prst="rect">
            <a:avLst/>
          </a:prstGeom>
          <a:solidFill>
            <a:srgbClr val="2E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377440"/>
            <a:ext cx="3291840" cy="50800"/>
          </a:xfrm>
          <a:prstGeom prst="rect">
            <a:avLst/>
          </a:prstGeom>
          <a:solidFill>
            <a:srgbClr val="D9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560320"/>
            <a:ext cx="3291840" cy="731520"/>
          </a:xfrm>
          <a:prstGeom prst="rect">
            <a:avLst/>
          </a:prstGeom>
          <a:noFill/>
        </p:spPr>
        <p:txBody>
          <a:bodyPr wrap="square">
            <a:spAutoFit/>
          </a:bodyPr>
          <a:lstStyle/>
          <a:p>
            <a:pPr algn="ctr"/>
            <a:r>
              <a:rPr sz="2600" b="1" i="0">
                <a:solidFill>
                  <a:srgbClr val="D97A3F"/>
                </a:solidFill>
                <a:latin typeface="Calibri"/>
              </a:rPr>
              <a:t>📈</a:t>
            </a:r>
          </a:p>
        </p:txBody>
      </p:sp>
      <p:sp>
        <p:nvSpPr>
          <p:cNvPr id="10" name="TextBox 9"/>
          <p:cNvSpPr txBox="1"/>
          <p:nvPr/>
        </p:nvSpPr>
        <p:spPr>
          <a:xfrm>
            <a:off x="777240" y="3291840"/>
            <a:ext cx="3017520" cy="1737360"/>
          </a:xfrm>
          <a:prstGeom prst="rect">
            <a:avLst/>
          </a:prstGeom>
          <a:noFill/>
        </p:spPr>
        <p:txBody>
          <a:bodyPr wrap="square">
            <a:spAutoFit/>
          </a:bodyPr>
          <a:lstStyle/>
          <a:p>
            <a:pPr algn="ctr"/>
            <a:r>
              <a:rPr sz="1200" b="0" i="0">
                <a:solidFill>
                  <a:srgbClr val="F3EEE3"/>
                </a:solidFill>
                <a:latin typeface="Calibri"/>
              </a:rPr>
              <a:t>Inflación persistente</a:t>
            </a:r>
            <a:br/>
            <a:r>
              <a:t>(aunque moderándose</a:t>
            </a:r>
            <a:br/>
            <a:r>
              <a:t>respecto a picos post-pandemia)</a:t>
            </a:r>
          </a:p>
        </p:txBody>
      </p:sp>
      <p:sp>
        <p:nvSpPr>
          <p:cNvPr id="15" name="Rectangle 14"/>
          <p:cNvSpPr/>
          <p:nvPr/>
        </p:nvSpPr>
        <p:spPr>
          <a:xfrm>
            <a:off x="4315217" y="2397760"/>
            <a:ext cx="3291840" cy="2743200"/>
          </a:xfrm>
          <a:prstGeom prst="rect">
            <a:avLst/>
          </a:prstGeom>
          <a:solidFill>
            <a:srgbClr val="2E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315217" y="2397760"/>
            <a:ext cx="3291840" cy="50800"/>
          </a:xfrm>
          <a:prstGeom prst="rect">
            <a:avLst/>
          </a:prstGeom>
          <a:solidFill>
            <a:srgbClr val="7A3B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15217" y="2580640"/>
            <a:ext cx="3291840" cy="731520"/>
          </a:xfrm>
          <a:prstGeom prst="rect">
            <a:avLst/>
          </a:prstGeom>
          <a:noFill/>
        </p:spPr>
        <p:txBody>
          <a:bodyPr wrap="square">
            <a:spAutoFit/>
          </a:bodyPr>
          <a:lstStyle/>
          <a:p>
            <a:pPr algn="ctr"/>
            <a:r>
              <a:rPr sz="2600" b="1" i="0">
                <a:solidFill>
                  <a:srgbClr val="7A3B5D"/>
                </a:solidFill>
                <a:latin typeface="Calibri"/>
              </a:rPr>
              <a:t>🌐</a:t>
            </a:r>
          </a:p>
        </p:txBody>
      </p:sp>
      <p:sp>
        <p:nvSpPr>
          <p:cNvPr id="18" name="TextBox 17"/>
          <p:cNvSpPr txBox="1"/>
          <p:nvPr/>
        </p:nvSpPr>
        <p:spPr>
          <a:xfrm>
            <a:off x="4452377" y="3312160"/>
            <a:ext cx="3017520" cy="1737360"/>
          </a:xfrm>
          <a:prstGeom prst="rect">
            <a:avLst/>
          </a:prstGeom>
          <a:noFill/>
        </p:spPr>
        <p:txBody>
          <a:bodyPr wrap="square">
            <a:spAutoFit/>
          </a:bodyPr>
          <a:lstStyle/>
          <a:p>
            <a:pPr algn="ctr"/>
            <a:r>
              <a:rPr sz="1200" b="0" i="0">
                <a:solidFill>
                  <a:srgbClr val="F3EEE3"/>
                </a:solidFill>
                <a:latin typeface="Calibri"/>
              </a:rPr>
              <a:t>T-MEC en renegociación</a:t>
            </a:r>
            <a:br/>
            <a:r>
              <a:t>y mayor proteccionismo</a:t>
            </a:r>
            <a:br/>
            <a:r>
              <a:t>en EE. UU.</a:t>
            </a:r>
          </a:p>
        </p:txBody>
      </p:sp>
      <p:sp>
        <p:nvSpPr>
          <p:cNvPr id="19" name="TextBox 18"/>
          <p:cNvSpPr txBox="1"/>
          <p:nvPr/>
        </p:nvSpPr>
        <p:spPr>
          <a:xfrm>
            <a:off x="365760" y="6446520"/>
            <a:ext cx="6400800" cy="320040"/>
          </a:xfrm>
          <a:prstGeom prst="rect">
            <a:avLst/>
          </a:prstGeom>
          <a:noFill/>
        </p:spPr>
        <p:txBody>
          <a:bodyPr wrap="square">
            <a:spAutoFit/>
          </a:bodyPr>
          <a:lstStyle/>
          <a:p>
            <a:pPr algn="l"/>
            <a:r>
              <a:rPr sz="1000" b="0" i="0">
                <a:solidFill>
                  <a:srgbClr val="2E2E2E"/>
                </a:solidFill>
                <a:latin typeface="Calibri"/>
              </a:rPr>
              <a:t>CRUJISANAS  |  Mercadotecnia Internacional</a:t>
            </a:r>
          </a:p>
        </p:txBody>
      </p:sp>
      <p:sp>
        <p:nvSpPr>
          <p:cNvPr id="20" name="TextBox 19"/>
          <p:cNvSpPr txBox="1"/>
          <p:nvPr/>
        </p:nvSpPr>
        <p:spPr>
          <a:xfrm>
            <a:off x="11430000" y="6446520"/>
            <a:ext cx="457200" cy="320040"/>
          </a:xfrm>
          <a:prstGeom prst="rect">
            <a:avLst/>
          </a:prstGeom>
          <a:noFill/>
        </p:spPr>
        <p:txBody>
          <a:bodyPr wrap="square">
            <a:spAutoFit/>
          </a:bodyPr>
          <a:lstStyle/>
          <a:p>
            <a:pPr algn="r"/>
            <a:r>
              <a:rPr sz="1000" b="0" i="0">
                <a:solidFill>
                  <a:srgbClr val="2E2E2E"/>
                </a:solidFill>
                <a:latin typeface="Calibri"/>
              </a:rPr>
              <a:t>2</a:t>
            </a:r>
          </a:p>
        </p:txBody>
      </p:sp>
      <p:pic>
        <p:nvPicPr>
          <p:cNvPr id="22" name="Picture 2" descr="Trump asegura que el T-MEC es “irrelevante” para Estados Unidos 🇺🇸🇲🇽🇨🇦 El expresidente Donald Trump afirmó que el Tratado entre México, Estados Unidos y Canadá “no es relevante” para Estados Unidos y">
            <a:extLst>
              <a:ext uri="{FF2B5EF4-FFF2-40B4-BE49-F238E27FC236}">
                <a16:creationId xmlns:a16="http://schemas.microsoft.com/office/drawing/2014/main" id="{2E0FBF55-8853-44A3-B706-1416D9AEB4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2817" y="1843910"/>
            <a:ext cx="3800475" cy="47720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81818"/>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7A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515600" y="109728"/>
            <a:ext cx="1463040" cy="914400"/>
          </a:xfrm>
          <a:prstGeom prst="rect">
            <a:avLst/>
          </a:prstGeom>
          <a:noFill/>
        </p:spPr>
        <p:txBody>
          <a:bodyPr wrap="square">
            <a:spAutoFit/>
          </a:bodyPr>
          <a:lstStyle/>
          <a:p>
            <a:pPr algn="r"/>
            <a:r>
              <a:rPr sz="4800" b="1" i="0">
                <a:solidFill>
                  <a:srgbClr val="2E2E2E"/>
                </a:solidFill>
                <a:latin typeface="Calibri"/>
              </a:rPr>
              <a:t>02</a:t>
            </a:r>
          </a:p>
        </p:txBody>
      </p:sp>
      <p:sp>
        <p:nvSpPr>
          <p:cNvPr id="4" name="TextBox 3"/>
          <p:cNvSpPr txBox="1"/>
          <p:nvPr/>
        </p:nvSpPr>
        <p:spPr>
          <a:xfrm>
            <a:off x="548640" y="320040"/>
            <a:ext cx="9601200" cy="822960"/>
          </a:xfrm>
          <a:prstGeom prst="rect">
            <a:avLst/>
          </a:prstGeom>
          <a:noFill/>
        </p:spPr>
        <p:txBody>
          <a:bodyPr wrap="square">
            <a:spAutoFit/>
          </a:bodyPr>
          <a:lstStyle/>
          <a:p>
            <a:pPr algn="l"/>
            <a:r>
              <a:rPr sz="3000" b="1" i="0">
                <a:solidFill>
                  <a:srgbClr val="F3EEE3"/>
                </a:solidFill>
                <a:latin typeface="Calibri"/>
              </a:rPr>
              <a:t>¿Qué es Crujisanas?</a:t>
            </a:r>
          </a:p>
        </p:txBody>
      </p:sp>
      <p:sp>
        <p:nvSpPr>
          <p:cNvPr id="5" name="Rectangle 4"/>
          <p:cNvSpPr/>
          <p:nvPr/>
        </p:nvSpPr>
        <p:spPr>
          <a:xfrm>
            <a:off x="594360" y="960120"/>
            <a:ext cx="1005840" cy="50800"/>
          </a:xfrm>
          <a:prstGeom prst="rect">
            <a:avLst/>
          </a:prstGeom>
          <a:solidFill>
            <a:srgbClr val="7A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463040"/>
            <a:ext cx="6583680" cy="4114800"/>
          </a:xfrm>
          <a:prstGeom prst="rect">
            <a:avLst/>
          </a:prstGeom>
          <a:noFill/>
        </p:spPr>
        <p:txBody>
          <a:bodyPr wrap="square">
            <a:spAutoFit/>
          </a:bodyPr>
          <a:lstStyle/>
          <a:p>
            <a:pPr>
              <a:lnSpc>
                <a:spcPct val="115000"/>
              </a:lnSpc>
              <a:spcAft>
                <a:spcPts val="1000"/>
              </a:spcAft>
            </a:pPr>
            <a:r>
              <a:rPr sz="1700">
                <a:solidFill>
                  <a:srgbClr val="F3EEE3"/>
                </a:solidFill>
                <a:latin typeface="Calibri"/>
              </a:rPr>
              <a:t>●  Marca mexicana de snacks saludables</a:t>
            </a:r>
          </a:p>
          <a:p>
            <a:pPr>
              <a:lnSpc>
                <a:spcPct val="115000"/>
              </a:lnSpc>
              <a:spcAft>
                <a:spcPts val="1000"/>
              </a:spcAft>
            </a:pPr>
            <a:r>
              <a:rPr sz="1700">
                <a:solidFill>
                  <a:srgbClr val="F3EEE3"/>
                </a:solidFill>
                <a:latin typeface="Calibri"/>
              </a:rPr>
              <a:t>●  Elaborados con jícama, betabel, camote y zanahoria</a:t>
            </a:r>
          </a:p>
          <a:p>
            <a:pPr>
              <a:lnSpc>
                <a:spcPct val="115000"/>
              </a:lnSpc>
              <a:spcAft>
                <a:spcPts val="1000"/>
              </a:spcAft>
            </a:pPr>
            <a:r>
              <a:rPr sz="1700">
                <a:solidFill>
                  <a:srgbClr val="F3EEE3"/>
                </a:solidFill>
                <a:latin typeface="Calibri"/>
              </a:rPr>
              <a:t>●  Horneados, no fritos — sin conservadores ni azúcares añadidas</a:t>
            </a:r>
          </a:p>
          <a:p>
            <a:pPr>
              <a:lnSpc>
                <a:spcPct val="115000"/>
              </a:lnSpc>
              <a:spcAft>
                <a:spcPts val="1000"/>
              </a:spcAft>
            </a:pPr>
            <a:r>
              <a:rPr sz="1700">
                <a:solidFill>
                  <a:srgbClr val="F3EEE3"/>
                </a:solidFill>
                <a:latin typeface="Calibri"/>
              </a:rPr>
              <a:t>●  Nace dentro de la cafetería de un centro de yoga</a:t>
            </a:r>
          </a:p>
        </p:txBody>
      </p:sp>
      <p:sp>
        <p:nvSpPr>
          <p:cNvPr id="15" name="TextBox 14"/>
          <p:cNvSpPr txBox="1"/>
          <p:nvPr/>
        </p:nvSpPr>
        <p:spPr>
          <a:xfrm>
            <a:off x="365760" y="6446520"/>
            <a:ext cx="6400800" cy="320040"/>
          </a:xfrm>
          <a:prstGeom prst="rect">
            <a:avLst/>
          </a:prstGeom>
          <a:noFill/>
        </p:spPr>
        <p:txBody>
          <a:bodyPr wrap="square">
            <a:spAutoFit/>
          </a:bodyPr>
          <a:lstStyle/>
          <a:p>
            <a:pPr algn="l"/>
            <a:r>
              <a:rPr sz="1000" b="0" i="0">
                <a:solidFill>
                  <a:srgbClr val="2E2E2E"/>
                </a:solidFill>
                <a:latin typeface="Calibri"/>
              </a:rPr>
              <a:t>CRUJISANAS  |  Mercadotecnia Internacional</a:t>
            </a:r>
          </a:p>
        </p:txBody>
      </p:sp>
      <p:sp>
        <p:nvSpPr>
          <p:cNvPr id="16" name="TextBox 15"/>
          <p:cNvSpPr txBox="1"/>
          <p:nvPr/>
        </p:nvSpPr>
        <p:spPr>
          <a:xfrm>
            <a:off x="11430000" y="6446520"/>
            <a:ext cx="457200" cy="320040"/>
          </a:xfrm>
          <a:prstGeom prst="rect">
            <a:avLst/>
          </a:prstGeom>
          <a:noFill/>
        </p:spPr>
        <p:txBody>
          <a:bodyPr wrap="square">
            <a:spAutoFit/>
          </a:bodyPr>
          <a:lstStyle/>
          <a:p>
            <a:pPr algn="r"/>
            <a:r>
              <a:rPr sz="1000" b="0" i="0">
                <a:solidFill>
                  <a:srgbClr val="2E2E2E"/>
                </a:solidFill>
                <a:latin typeface="Calibri"/>
              </a:rPr>
              <a:t>3</a:t>
            </a:r>
          </a:p>
        </p:txBody>
      </p:sp>
      <p:pic>
        <p:nvPicPr>
          <p:cNvPr id="18" name="Imagen 17">
            <a:extLst>
              <a:ext uri="{FF2B5EF4-FFF2-40B4-BE49-F238E27FC236}">
                <a16:creationId xmlns:a16="http://schemas.microsoft.com/office/drawing/2014/main" id="{AE130B9E-BD15-42A7-A194-20B2E1DB5BD6}"/>
              </a:ext>
            </a:extLst>
          </p:cNvPr>
          <p:cNvPicPr>
            <a:picLocks noChangeAspect="1"/>
          </p:cNvPicPr>
          <p:nvPr/>
        </p:nvPicPr>
        <p:blipFill>
          <a:blip r:embed="rId3"/>
          <a:stretch>
            <a:fillRect/>
          </a:stretch>
        </p:blipFill>
        <p:spPr>
          <a:xfrm>
            <a:off x="5421294" y="2803951"/>
            <a:ext cx="6451501" cy="365133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81818"/>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7A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515600" y="109728"/>
            <a:ext cx="1463040" cy="914400"/>
          </a:xfrm>
          <a:prstGeom prst="rect">
            <a:avLst/>
          </a:prstGeom>
          <a:noFill/>
        </p:spPr>
        <p:txBody>
          <a:bodyPr wrap="square">
            <a:spAutoFit/>
          </a:bodyPr>
          <a:lstStyle/>
          <a:p>
            <a:pPr algn="r"/>
            <a:r>
              <a:rPr sz="4800" b="1" i="0">
                <a:solidFill>
                  <a:srgbClr val="2E2E2E"/>
                </a:solidFill>
                <a:latin typeface="Calibri"/>
              </a:rPr>
              <a:t>02</a:t>
            </a:r>
          </a:p>
        </p:txBody>
      </p:sp>
      <p:sp>
        <p:nvSpPr>
          <p:cNvPr id="4" name="TextBox 3"/>
          <p:cNvSpPr txBox="1"/>
          <p:nvPr/>
        </p:nvSpPr>
        <p:spPr>
          <a:xfrm>
            <a:off x="548640" y="320040"/>
            <a:ext cx="9601200" cy="822960"/>
          </a:xfrm>
          <a:prstGeom prst="rect">
            <a:avLst/>
          </a:prstGeom>
          <a:noFill/>
        </p:spPr>
        <p:txBody>
          <a:bodyPr wrap="square">
            <a:spAutoFit/>
          </a:bodyPr>
          <a:lstStyle/>
          <a:p>
            <a:pPr algn="l"/>
            <a:r>
              <a:rPr sz="3000" b="1" i="0">
                <a:solidFill>
                  <a:srgbClr val="F3EEE3"/>
                </a:solidFill>
                <a:latin typeface="Calibri"/>
              </a:rPr>
              <a:t>Una respuesta a un problema real</a:t>
            </a:r>
          </a:p>
        </p:txBody>
      </p:sp>
      <p:sp>
        <p:nvSpPr>
          <p:cNvPr id="5" name="Rectangle 4"/>
          <p:cNvSpPr/>
          <p:nvPr/>
        </p:nvSpPr>
        <p:spPr>
          <a:xfrm>
            <a:off x="594360" y="960120"/>
            <a:ext cx="1005840" cy="50800"/>
          </a:xfrm>
          <a:prstGeom prst="rect">
            <a:avLst/>
          </a:prstGeom>
          <a:solidFill>
            <a:srgbClr val="7A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4360" y="1463040"/>
            <a:ext cx="3474720" cy="3931920"/>
          </a:xfrm>
          <a:prstGeom prst="rect">
            <a:avLst/>
          </a:prstGeom>
          <a:solidFill>
            <a:srgbClr val="2E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463040"/>
            <a:ext cx="3474720" cy="50800"/>
          </a:xfrm>
          <a:prstGeom prst="rect">
            <a:avLst/>
          </a:prstGeom>
          <a:solidFill>
            <a:srgbClr val="D9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645920"/>
            <a:ext cx="3474720" cy="731520"/>
          </a:xfrm>
          <a:prstGeom prst="rect">
            <a:avLst/>
          </a:prstGeom>
          <a:noFill/>
        </p:spPr>
        <p:txBody>
          <a:bodyPr wrap="square">
            <a:spAutoFit/>
          </a:bodyPr>
          <a:lstStyle/>
          <a:p>
            <a:pPr algn="ctr"/>
            <a:r>
              <a:rPr sz="2600" b="1" i="0">
                <a:solidFill>
                  <a:srgbClr val="D97A3F"/>
                </a:solidFill>
                <a:latin typeface="Calibri"/>
              </a:rPr>
              <a:t>🥇</a:t>
            </a:r>
          </a:p>
        </p:txBody>
      </p:sp>
      <p:sp>
        <p:nvSpPr>
          <p:cNvPr id="9" name="TextBox 8"/>
          <p:cNvSpPr txBox="1"/>
          <p:nvPr/>
        </p:nvSpPr>
        <p:spPr>
          <a:xfrm>
            <a:off x="731520" y="2377440"/>
            <a:ext cx="3200400" cy="2926080"/>
          </a:xfrm>
          <a:prstGeom prst="rect">
            <a:avLst/>
          </a:prstGeom>
          <a:noFill/>
        </p:spPr>
        <p:txBody>
          <a:bodyPr wrap="square">
            <a:spAutoFit/>
          </a:bodyPr>
          <a:lstStyle/>
          <a:p>
            <a:pPr algn="ctr"/>
            <a:r>
              <a:rPr sz="1200" b="0" i="0">
                <a:solidFill>
                  <a:srgbClr val="F3EEE3"/>
                </a:solidFill>
                <a:latin typeface="Calibri"/>
              </a:rPr>
              <a:t>México: 1er lugar mundial</a:t>
            </a:r>
            <a:br/>
            <a:r>
              <a:t>en obesidad infantil</a:t>
            </a:r>
          </a:p>
        </p:txBody>
      </p:sp>
      <p:sp>
        <p:nvSpPr>
          <p:cNvPr id="10" name="TextBox 9"/>
          <p:cNvSpPr txBox="1"/>
          <p:nvPr/>
        </p:nvSpPr>
        <p:spPr>
          <a:xfrm>
            <a:off x="4389120" y="1554480"/>
            <a:ext cx="7040880" cy="3931920"/>
          </a:xfrm>
          <a:prstGeom prst="rect">
            <a:avLst/>
          </a:prstGeom>
          <a:noFill/>
        </p:spPr>
        <p:txBody>
          <a:bodyPr wrap="square">
            <a:spAutoFit/>
          </a:bodyPr>
          <a:lstStyle/>
          <a:p>
            <a:pPr>
              <a:lnSpc>
                <a:spcPct val="115000"/>
              </a:lnSpc>
              <a:spcAft>
                <a:spcPts val="1200"/>
              </a:spcAft>
            </a:pPr>
            <a:r>
              <a:rPr sz="1500" b="1">
                <a:solidFill>
                  <a:srgbClr val="D97A3F"/>
                </a:solidFill>
                <a:latin typeface="Calibri"/>
              </a:rPr>
              <a:t>●  Visibilidad nacional — </a:t>
            </a:r>
            <a:r>
              <a:rPr sz="1500">
                <a:solidFill>
                  <a:srgbClr val="F3EEE3"/>
                </a:solidFill>
                <a:latin typeface="Calibri"/>
              </a:rPr>
              <a:t>presentación en Shark Tank México.</a:t>
            </a:r>
          </a:p>
          <a:p>
            <a:pPr>
              <a:lnSpc>
                <a:spcPct val="115000"/>
              </a:lnSpc>
              <a:spcAft>
                <a:spcPts val="1200"/>
              </a:spcAft>
            </a:pPr>
            <a:r>
              <a:rPr sz="1500" b="1">
                <a:solidFill>
                  <a:srgbClr val="D97A3F"/>
                </a:solidFill>
                <a:latin typeface="Calibri"/>
              </a:rPr>
              <a:t>●  Diferenciación clara — </a:t>
            </a:r>
            <a:r>
              <a:rPr sz="1500">
                <a:solidFill>
                  <a:srgbClr val="F3EEE3"/>
                </a:solidFill>
                <a:latin typeface="Calibri"/>
              </a:rPr>
              <a:t>compite contra Sabritas y Barcel, enfocadas en papa, maíz y trigo, usando vegetales de raíz con más fibra y menor densidad calórica.</a:t>
            </a:r>
          </a:p>
          <a:p>
            <a:pPr>
              <a:lnSpc>
                <a:spcPct val="115000"/>
              </a:lnSpc>
              <a:spcAft>
                <a:spcPts val="1200"/>
              </a:spcAft>
            </a:pPr>
            <a:r>
              <a:rPr sz="1500" b="1">
                <a:solidFill>
                  <a:srgbClr val="D97A3F"/>
                </a:solidFill>
                <a:latin typeface="Calibri"/>
              </a:rPr>
              <a:t>●  Producción artesanal — </a:t>
            </a:r>
            <a:r>
              <a:rPr sz="1500">
                <a:solidFill>
                  <a:srgbClr val="F3EEE3"/>
                </a:solidFill>
                <a:latin typeface="Calibri"/>
              </a:rPr>
              <a:t>de baja escala, que le permite posicionarse como producto premium dentro de una categoría dominada por PepsiCo y Grupo Bimbo.</a:t>
            </a:r>
          </a:p>
        </p:txBody>
      </p:sp>
      <p:sp>
        <p:nvSpPr>
          <p:cNvPr id="11" name="TextBox 10"/>
          <p:cNvSpPr txBox="1"/>
          <p:nvPr/>
        </p:nvSpPr>
        <p:spPr>
          <a:xfrm>
            <a:off x="365760" y="6446520"/>
            <a:ext cx="6400800" cy="320040"/>
          </a:xfrm>
          <a:prstGeom prst="rect">
            <a:avLst/>
          </a:prstGeom>
          <a:noFill/>
        </p:spPr>
        <p:txBody>
          <a:bodyPr wrap="square">
            <a:spAutoFit/>
          </a:bodyPr>
          <a:lstStyle/>
          <a:p>
            <a:pPr algn="l"/>
            <a:r>
              <a:rPr sz="1000" b="0" i="0">
                <a:solidFill>
                  <a:srgbClr val="2E2E2E"/>
                </a:solidFill>
                <a:latin typeface="Calibri"/>
              </a:rPr>
              <a:t>CRUJISANAS  |  Mercadotecnia Internacional</a:t>
            </a:r>
          </a:p>
        </p:txBody>
      </p:sp>
      <p:sp>
        <p:nvSpPr>
          <p:cNvPr id="12" name="TextBox 11"/>
          <p:cNvSpPr txBox="1"/>
          <p:nvPr/>
        </p:nvSpPr>
        <p:spPr>
          <a:xfrm>
            <a:off x="11430000" y="6446520"/>
            <a:ext cx="457200" cy="320040"/>
          </a:xfrm>
          <a:prstGeom prst="rect">
            <a:avLst/>
          </a:prstGeom>
          <a:noFill/>
        </p:spPr>
        <p:txBody>
          <a:bodyPr wrap="square">
            <a:spAutoFit/>
          </a:bodyPr>
          <a:lstStyle/>
          <a:p>
            <a:pPr algn="r"/>
            <a:r>
              <a:rPr sz="1000" b="0" i="0">
                <a:solidFill>
                  <a:srgbClr val="2E2E2E"/>
                </a:solidFill>
                <a:latin typeface="Calibri"/>
              </a:rPr>
              <a:t>4</a:t>
            </a:r>
          </a:p>
        </p:txBody>
      </p:sp>
      <p:pic>
        <p:nvPicPr>
          <p:cNvPr id="1028" name="Picture 4" descr="Escuelas se han convertido en fábricas de niños obesos: Alejandro Calvillo  - La Prensa">
            <a:extLst>
              <a:ext uri="{FF2B5EF4-FFF2-40B4-BE49-F238E27FC236}">
                <a16:creationId xmlns:a16="http://schemas.microsoft.com/office/drawing/2014/main" id="{D54CA97C-17C2-46A5-945A-3E74BDA002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7155" y="3562950"/>
            <a:ext cx="5410826" cy="304359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 ¡México ya no encabeza la lista de #ObesidadInfantil! Nuestro país cae al octavo lugar a nivel mundial tras años de alerta y presión internacional. 👧👦🇲🇽 México pasó del primer al octavo">
            <a:extLst>
              <a:ext uri="{FF2B5EF4-FFF2-40B4-BE49-F238E27FC236}">
                <a16:creationId xmlns:a16="http://schemas.microsoft.com/office/drawing/2014/main" id="{EE9085ED-F430-41C1-A97B-75317E58A86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051" b="20402"/>
          <a:stretch/>
        </p:blipFill>
        <p:spPr bwMode="auto">
          <a:xfrm>
            <a:off x="806050" y="2983894"/>
            <a:ext cx="3051340" cy="28561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81818"/>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7A3B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515600" y="109728"/>
            <a:ext cx="1463040" cy="914400"/>
          </a:xfrm>
          <a:prstGeom prst="rect">
            <a:avLst/>
          </a:prstGeom>
          <a:noFill/>
        </p:spPr>
        <p:txBody>
          <a:bodyPr wrap="square">
            <a:spAutoFit/>
          </a:bodyPr>
          <a:lstStyle/>
          <a:p>
            <a:pPr algn="r"/>
            <a:r>
              <a:rPr sz="4800" b="1" i="0">
                <a:solidFill>
                  <a:srgbClr val="2E2E2E"/>
                </a:solidFill>
                <a:latin typeface="Calibri"/>
              </a:rPr>
              <a:t>03</a:t>
            </a:r>
          </a:p>
        </p:txBody>
      </p:sp>
      <p:sp>
        <p:nvSpPr>
          <p:cNvPr id="4" name="TextBox 3"/>
          <p:cNvSpPr txBox="1"/>
          <p:nvPr/>
        </p:nvSpPr>
        <p:spPr>
          <a:xfrm>
            <a:off x="548640" y="320040"/>
            <a:ext cx="9601200" cy="822960"/>
          </a:xfrm>
          <a:prstGeom prst="rect">
            <a:avLst/>
          </a:prstGeom>
          <a:noFill/>
        </p:spPr>
        <p:txBody>
          <a:bodyPr wrap="square">
            <a:spAutoFit/>
          </a:bodyPr>
          <a:lstStyle/>
          <a:p>
            <a:pPr algn="l"/>
            <a:r>
              <a:rPr sz="3000" b="1" i="0">
                <a:solidFill>
                  <a:srgbClr val="F3EEE3"/>
                </a:solidFill>
                <a:latin typeface="Calibri"/>
              </a:rPr>
              <a:t>¿Por qué tiene potencial? (I)</a:t>
            </a:r>
          </a:p>
        </p:txBody>
      </p:sp>
      <p:sp>
        <p:nvSpPr>
          <p:cNvPr id="5" name="Rectangle 4"/>
          <p:cNvSpPr/>
          <p:nvPr/>
        </p:nvSpPr>
        <p:spPr>
          <a:xfrm>
            <a:off x="594360" y="960120"/>
            <a:ext cx="1005840" cy="50800"/>
          </a:xfrm>
          <a:prstGeom prst="rect">
            <a:avLst/>
          </a:prstGeom>
          <a:solidFill>
            <a:srgbClr val="7A3B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463040"/>
            <a:ext cx="5897880" cy="3368871"/>
          </a:xfrm>
          <a:prstGeom prst="rect">
            <a:avLst/>
          </a:prstGeom>
          <a:noFill/>
        </p:spPr>
        <p:txBody>
          <a:bodyPr wrap="square">
            <a:spAutoFit/>
          </a:bodyPr>
          <a:lstStyle/>
          <a:p>
            <a:pPr>
              <a:lnSpc>
                <a:spcPct val="115000"/>
              </a:lnSpc>
              <a:spcAft>
                <a:spcPts val="1200"/>
              </a:spcAft>
            </a:pPr>
            <a:r>
              <a:rPr sz="1600" b="1">
                <a:solidFill>
                  <a:srgbClr val="D97A3F"/>
                </a:solidFill>
                <a:latin typeface="Calibri"/>
              </a:rPr>
              <a:t>●  Calidad — </a:t>
            </a:r>
            <a:r>
              <a:rPr sz="1600">
                <a:solidFill>
                  <a:srgbClr val="F3EEE3"/>
                </a:solidFill>
                <a:latin typeface="Calibri"/>
              </a:rPr>
              <a:t>diseño sobrio y oscuro que comunica un producto premium desde el anaquel, aunque en esencia sea una bolsa de "papitas" de vegetales.</a:t>
            </a:r>
          </a:p>
          <a:p>
            <a:pPr>
              <a:lnSpc>
                <a:spcPct val="115000"/>
              </a:lnSpc>
              <a:spcAft>
                <a:spcPts val="1200"/>
              </a:spcAft>
            </a:pPr>
            <a:r>
              <a:rPr sz="1600" b="1">
                <a:solidFill>
                  <a:srgbClr val="D97A3F"/>
                </a:solidFill>
                <a:latin typeface="Calibri"/>
              </a:rPr>
              <a:t>●  Innovación — </a:t>
            </a:r>
            <a:r>
              <a:rPr sz="1600">
                <a:solidFill>
                  <a:srgbClr val="F3EEE3"/>
                </a:solidFill>
                <a:latin typeface="Calibri"/>
              </a:rPr>
              <a:t>casi no hay competidores enfocados en jícama, camote, betabel y zanahoria; es un espacio de mercado poco explotado (blue ocean).</a:t>
            </a:r>
          </a:p>
          <a:p>
            <a:pPr>
              <a:lnSpc>
                <a:spcPct val="115000"/>
              </a:lnSpc>
              <a:spcAft>
                <a:spcPts val="1200"/>
              </a:spcAft>
            </a:pPr>
            <a:r>
              <a:rPr sz="1600" b="1">
                <a:solidFill>
                  <a:srgbClr val="D97A3F"/>
                </a:solidFill>
                <a:latin typeface="Calibri"/>
              </a:rPr>
              <a:t>●  Tradición — </a:t>
            </a:r>
            <a:r>
              <a:rPr sz="1600">
                <a:solidFill>
                  <a:srgbClr val="F3EEE3"/>
                </a:solidFill>
                <a:latin typeface="Calibri"/>
              </a:rPr>
              <a:t>retoma ingredientes de la dieta mexicana y los reinterpreta en un formato moderno de conveniencia.</a:t>
            </a:r>
          </a:p>
          <a:p>
            <a:pPr>
              <a:lnSpc>
                <a:spcPct val="115000"/>
              </a:lnSpc>
              <a:spcAft>
                <a:spcPts val="1200"/>
              </a:spcAft>
            </a:pPr>
            <a:r>
              <a:rPr sz="1600" b="1">
                <a:solidFill>
                  <a:srgbClr val="D97A3F"/>
                </a:solidFill>
                <a:latin typeface="Calibri"/>
              </a:rPr>
              <a:t>●  Sustentabilidad — </a:t>
            </a:r>
            <a:r>
              <a:rPr sz="1600">
                <a:solidFill>
                  <a:srgbClr val="F3EEE3"/>
                </a:solidFill>
                <a:latin typeface="Calibri"/>
              </a:rPr>
              <a:t>vegetales de raíz con menor huella hídrica, horneados en lugar de fritos, alineados con el consumo consciente.</a:t>
            </a:r>
          </a:p>
        </p:txBody>
      </p:sp>
      <p:sp>
        <p:nvSpPr>
          <p:cNvPr id="7" name="TextBox 6"/>
          <p:cNvSpPr txBox="1"/>
          <p:nvPr/>
        </p:nvSpPr>
        <p:spPr>
          <a:xfrm>
            <a:off x="365760" y="6446520"/>
            <a:ext cx="6400800" cy="320040"/>
          </a:xfrm>
          <a:prstGeom prst="rect">
            <a:avLst/>
          </a:prstGeom>
          <a:noFill/>
        </p:spPr>
        <p:txBody>
          <a:bodyPr wrap="square">
            <a:spAutoFit/>
          </a:bodyPr>
          <a:lstStyle/>
          <a:p>
            <a:pPr algn="l"/>
            <a:r>
              <a:rPr sz="1000" b="0" i="0">
                <a:solidFill>
                  <a:srgbClr val="2E2E2E"/>
                </a:solidFill>
                <a:latin typeface="Calibri"/>
              </a:rPr>
              <a:t>CRUJISANAS  |  Mercadotecnia Internacional</a:t>
            </a:r>
          </a:p>
        </p:txBody>
      </p:sp>
      <p:sp>
        <p:nvSpPr>
          <p:cNvPr id="8" name="TextBox 7"/>
          <p:cNvSpPr txBox="1"/>
          <p:nvPr/>
        </p:nvSpPr>
        <p:spPr>
          <a:xfrm>
            <a:off x="11430000" y="6446520"/>
            <a:ext cx="457200" cy="320040"/>
          </a:xfrm>
          <a:prstGeom prst="rect">
            <a:avLst/>
          </a:prstGeom>
          <a:noFill/>
        </p:spPr>
        <p:txBody>
          <a:bodyPr wrap="square">
            <a:spAutoFit/>
          </a:bodyPr>
          <a:lstStyle/>
          <a:p>
            <a:pPr algn="r"/>
            <a:r>
              <a:rPr sz="1000" b="0" i="0">
                <a:solidFill>
                  <a:srgbClr val="2E2E2E"/>
                </a:solidFill>
                <a:latin typeface="Calibri"/>
              </a:rPr>
              <a:t>5</a:t>
            </a:r>
          </a:p>
        </p:txBody>
      </p:sp>
      <p:pic>
        <p:nvPicPr>
          <p:cNvPr id="8196" name="Picture 4" descr="No hay ninguna descripción de la foto disponible.">
            <a:extLst>
              <a:ext uri="{FF2B5EF4-FFF2-40B4-BE49-F238E27FC236}">
                <a16:creationId xmlns:a16="http://schemas.microsoft.com/office/drawing/2014/main" id="{14AE34A2-D684-4CFE-AAE1-E88FA05501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288363"/>
            <a:ext cx="4620814" cy="61581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81818"/>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7A3B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515600" y="109728"/>
            <a:ext cx="1463040" cy="914400"/>
          </a:xfrm>
          <a:prstGeom prst="rect">
            <a:avLst/>
          </a:prstGeom>
          <a:noFill/>
        </p:spPr>
        <p:txBody>
          <a:bodyPr wrap="square">
            <a:spAutoFit/>
          </a:bodyPr>
          <a:lstStyle/>
          <a:p>
            <a:pPr algn="r"/>
            <a:r>
              <a:rPr sz="4800" b="1" i="0">
                <a:solidFill>
                  <a:srgbClr val="2E2E2E"/>
                </a:solidFill>
                <a:latin typeface="Calibri"/>
              </a:rPr>
              <a:t>03</a:t>
            </a:r>
          </a:p>
        </p:txBody>
      </p:sp>
      <p:sp>
        <p:nvSpPr>
          <p:cNvPr id="4" name="TextBox 3"/>
          <p:cNvSpPr txBox="1"/>
          <p:nvPr/>
        </p:nvSpPr>
        <p:spPr>
          <a:xfrm>
            <a:off x="548640" y="320040"/>
            <a:ext cx="9601200" cy="822960"/>
          </a:xfrm>
          <a:prstGeom prst="rect">
            <a:avLst/>
          </a:prstGeom>
          <a:noFill/>
        </p:spPr>
        <p:txBody>
          <a:bodyPr wrap="square">
            <a:spAutoFit/>
          </a:bodyPr>
          <a:lstStyle/>
          <a:p>
            <a:pPr algn="l"/>
            <a:r>
              <a:rPr sz="3000" b="1" i="0">
                <a:solidFill>
                  <a:srgbClr val="F3EEE3"/>
                </a:solidFill>
                <a:latin typeface="Calibri"/>
              </a:rPr>
              <a:t>¿Por qué tiene potencial? (II)</a:t>
            </a:r>
          </a:p>
        </p:txBody>
      </p:sp>
      <p:sp>
        <p:nvSpPr>
          <p:cNvPr id="5" name="Rectangle 4"/>
          <p:cNvSpPr/>
          <p:nvPr/>
        </p:nvSpPr>
        <p:spPr>
          <a:xfrm>
            <a:off x="594360" y="960120"/>
            <a:ext cx="1005840" cy="50800"/>
          </a:xfrm>
          <a:prstGeom prst="rect">
            <a:avLst/>
          </a:prstGeom>
          <a:solidFill>
            <a:srgbClr val="7A3B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417320"/>
            <a:ext cx="5852160" cy="4389120"/>
          </a:xfrm>
          <a:prstGeom prst="rect">
            <a:avLst/>
          </a:prstGeom>
          <a:noFill/>
        </p:spPr>
        <p:txBody>
          <a:bodyPr wrap="square">
            <a:spAutoFit/>
          </a:bodyPr>
          <a:lstStyle/>
          <a:p>
            <a:pPr>
              <a:lnSpc>
                <a:spcPct val="115000"/>
              </a:lnSpc>
              <a:spcAft>
                <a:spcPts val="1200"/>
              </a:spcAft>
            </a:pPr>
            <a:r>
              <a:rPr sz="1500" b="1">
                <a:solidFill>
                  <a:srgbClr val="D97A3F"/>
                </a:solidFill>
                <a:latin typeface="Calibri"/>
              </a:rPr>
              <a:t>●  Prestigio — </a:t>
            </a:r>
            <a:r>
              <a:rPr sz="1500">
                <a:solidFill>
                  <a:srgbClr val="F3EEE3"/>
                </a:solidFill>
                <a:latin typeface="Calibri"/>
              </a:rPr>
              <a:t>estética "gourmet", alejada de la producción masiva de anaquel.</a:t>
            </a:r>
          </a:p>
          <a:p>
            <a:pPr>
              <a:lnSpc>
                <a:spcPct val="115000"/>
              </a:lnSpc>
              <a:spcAft>
                <a:spcPts val="1200"/>
              </a:spcAft>
            </a:pPr>
            <a:r>
              <a:rPr sz="1500" b="1">
                <a:solidFill>
                  <a:srgbClr val="D97A3F"/>
                </a:solidFill>
                <a:latin typeface="Calibri"/>
              </a:rPr>
              <a:t>●  Tendencias de consumo — </a:t>
            </a:r>
            <a:r>
              <a:rPr sz="1500">
                <a:solidFill>
                  <a:srgbClr val="F3EEE3"/>
                </a:solidFill>
                <a:latin typeface="Calibri"/>
              </a:rPr>
              <a:t>boom global de wellness, alimentación consciente y "clean label", también presente en Latinoamérica.</a:t>
            </a:r>
          </a:p>
          <a:p>
            <a:pPr>
              <a:lnSpc>
                <a:spcPct val="115000"/>
              </a:lnSpc>
              <a:spcAft>
                <a:spcPts val="1200"/>
              </a:spcAft>
            </a:pPr>
            <a:r>
              <a:rPr sz="1500" b="1">
                <a:solidFill>
                  <a:srgbClr val="D97A3F"/>
                </a:solidFill>
                <a:latin typeface="Calibri"/>
              </a:rPr>
              <a:t>●  Identidad mexicana — </a:t>
            </a:r>
            <a:r>
              <a:rPr sz="1500">
                <a:solidFill>
                  <a:srgbClr val="F3EEE3"/>
                </a:solidFill>
                <a:latin typeface="Calibri"/>
              </a:rPr>
              <a:t>jícama y camote como argumento de autenticidad muy valioso en mercados internacionales.</a:t>
            </a:r>
          </a:p>
        </p:txBody>
      </p:sp>
      <p:sp>
        <p:nvSpPr>
          <p:cNvPr id="8" name="TextBox 7"/>
          <p:cNvSpPr txBox="1"/>
          <p:nvPr/>
        </p:nvSpPr>
        <p:spPr>
          <a:xfrm>
            <a:off x="365760" y="6446520"/>
            <a:ext cx="6400800" cy="320040"/>
          </a:xfrm>
          <a:prstGeom prst="rect">
            <a:avLst/>
          </a:prstGeom>
          <a:noFill/>
        </p:spPr>
        <p:txBody>
          <a:bodyPr wrap="square">
            <a:spAutoFit/>
          </a:bodyPr>
          <a:lstStyle/>
          <a:p>
            <a:pPr algn="l"/>
            <a:r>
              <a:rPr sz="1000" b="0" i="0">
                <a:solidFill>
                  <a:srgbClr val="2E2E2E"/>
                </a:solidFill>
                <a:latin typeface="Calibri"/>
              </a:rPr>
              <a:t>CRUJISANAS  |  Mercadotecnia Internacional</a:t>
            </a:r>
          </a:p>
        </p:txBody>
      </p:sp>
      <p:sp>
        <p:nvSpPr>
          <p:cNvPr id="9" name="TextBox 8"/>
          <p:cNvSpPr txBox="1"/>
          <p:nvPr/>
        </p:nvSpPr>
        <p:spPr>
          <a:xfrm>
            <a:off x="11430000" y="6446520"/>
            <a:ext cx="457200" cy="320040"/>
          </a:xfrm>
          <a:prstGeom prst="rect">
            <a:avLst/>
          </a:prstGeom>
          <a:noFill/>
        </p:spPr>
        <p:txBody>
          <a:bodyPr wrap="square">
            <a:spAutoFit/>
          </a:bodyPr>
          <a:lstStyle/>
          <a:p>
            <a:pPr algn="r"/>
            <a:r>
              <a:rPr sz="1000" b="0" i="0">
                <a:solidFill>
                  <a:srgbClr val="2E2E2E"/>
                </a:solidFill>
                <a:latin typeface="Calibri"/>
              </a:rPr>
              <a:t>6</a:t>
            </a:r>
          </a:p>
        </p:txBody>
      </p:sp>
      <p:pic>
        <p:nvPicPr>
          <p:cNvPr id="7170" name="Picture 2" descr="No hay ninguna descripción de la foto disponible.">
            <a:extLst>
              <a:ext uri="{FF2B5EF4-FFF2-40B4-BE49-F238E27FC236}">
                <a16:creationId xmlns:a16="http://schemas.microsoft.com/office/drawing/2014/main" id="{5738DCE2-8D39-41D2-BFB2-97604C2867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8450" y="469392"/>
            <a:ext cx="5010150" cy="6096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81818"/>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7A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515600" y="109728"/>
            <a:ext cx="1463040" cy="914400"/>
          </a:xfrm>
          <a:prstGeom prst="rect">
            <a:avLst/>
          </a:prstGeom>
          <a:noFill/>
        </p:spPr>
        <p:txBody>
          <a:bodyPr wrap="square">
            <a:spAutoFit/>
          </a:bodyPr>
          <a:lstStyle/>
          <a:p>
            <a:pPr algn="r"/>
            <a:r>
              <a:rPr sz="4800" b="1" i="0">
                <a:solidFill>
                  <a:srgbClr val="2E2E2E"/>
                </a:solidFill>
                <a:latin typeface="Calibri"/>
              </a:rPr>
              <a:t>04</a:t>
            </a:r>
          </a:p>
        </p:txBody>
      </p:sp>
      <p:sp>
        <p:nvSpPr>
          <p:cNvPr id="4" name="TextBox 3"/>
          <p:cNvSpPr txBox="1"/>
          <p:nvPr/>
        </p:nvSpPr>
        <p:spPr>
          <a:xfrm>
            <a:off x="548640" y="320040"/>
            <a:ext cx="9601200" cy="822960"/>
          </a:xfrm>
          <a:prstGeom prst="rect">
            <a:avLst/>
          </a:prstGeom>
          <a:noFill/>
        </p:spPr>
        <p:txBody>
          <a:bodyPr wrap="square">
            <a:spAutoFit/>
          </a:bodyPr>
          <a:lstStyle/>
          <a:p>
            <a:pPr algn="l"/>
            <a:r>
              <a:rPr sz="3000" b="1" i="0">
                <a:solidFill>
                  <a:srgbClr val="F3EEE3"/>
                </a:solidFill>
                <a:latin typeface="Calibri"/>
              </a:rPr>
              <a:t>Mercado seleccionado: Guatemala</a:t>
            </a:r>
          </a:p>
        </p:txBody>
      </p:sp>
      <p:sp>
        <p:nvSpPr>
          <p:cNvPr id="5" name="Rectangle 4"/>
          <p:cNvSpPr/>
          <p:nvPr/>
        </p:nvSpPr>
        <p:spPr>
          <a:xfrm>
            <a:off x="594360" y="960120"/>
            <a:ext cx="1005840" cy="50800"/>
          </a:xfrm>
          <a:prstGeom prst="rect">
            <a:avLst/>
          </a:prstGeom>
          <a:solidFill>
            <a:srgbClr val="7A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6532" y="1232165"/>
            <a:ext cx="6558628" cy="5625835"/>
          </a:xfrm>
          <a:prstGeom prst="rect">
            <a:avLst/>
          </a:prstGeom>
          <a:noFill/>
        </p:spPr>
        <p:txBody>
          <a:bodyPr wrap="square">
            <a:spAutoFit/>
          </a:bodyPr>
          <a:lstStyle/>
          <a:p>
            <a:pPr>
              <a:lnSpc>
                <a:spcPct val="115000"/>
              </a:lnSpc>
              <a:spcAft>
                <a:spcPts val="1200"/>
              </a:spcAft>
            </a:pPr>
            <a:r>
              <a:rPr sz="2400" b="1" dirty="0">
                <a:solidFill>
                  <a:srgbClr val="D97A3F"/>
                </a:solidFill>
                <a:latin typeface="Calibri"/>
              </a:rPr>
              <a:t>●  Frontera </a:t>
            </a:r>
            <a:r>
              <a:rPr sz="2400" b="1" dirty="0" err="1">
                <a:solidFill>
                  <a:srgbClr val="D97A3F"/>
                </a:solidFill>
                <a:latin typeface="Calibri"/>
              </a:rPr>
              <a:t>terrestre</a:t>
            </a:r>
            <a:r>
              <a:rPr sz="2400" b="1" dirty="0">
                <a:solidFill>
                  <a:srgbClr val="D97A3F"/>
                </a:solidFill>
                <a:latin typeface="Calibri"/>
              </a:rPr>
              <a:t> con México — </a:t>
            </a:r>
            <a:r>
              <a:rPr sz="2400" dirty="0">
                <a:solidFill>
                  <a:srgbClr val="F3EEE3"/>
                </a:solidFill>
                <a:latin typeface="Calibri"/>
              </a:rPr>
              <a:t>reduce </a:t>
            </a:r>
            <a:r>
              <a:rPr sz="2400" dirty="0" err="1">
                <a:solidFill>
                  <a:srgbClr val="F3EEE3"/>
                </a:solidFill>
                <a:latin typeface="Calibri"/>
              </a:rPr>
              <a:t>costos</a:t>
            </a:r>
            <a:r>
              <a:rPr sz="2400" dirty="0">
                <a:solidFill>
                  <a:srgbClr val="F3EEE3"/>
                </a:solidFill>
                <a:latin typeface="Calibri"/>
              </a:rPr>
              <a:t> y </a:t>
            </a:r>
            <a:r>
              <a:rPr sz="2400" dirty="0" err="1">
                <a:solidFill>
                  <a:srgbClr val="F3EEE3"/>
                </a:solidFill>
                <a:latin typeface="Calibri"/>
              </a:rPr>
              <a:t>riesgos</a:t>
            </a:r>
            <a:r>
              <a:rPr sz="2400" dirty="0">
                <a:solidFill>
                  <a:srgbClr val="F3EEE3"/>
                </a:solidFill>
                <a:latin typeface="Calibri"/>
              </a:rPr>
              <a:t> </a:t>
            </a:r>
            <a:r>
              <a:rPr sz="2400" dirty="0" err="1">
                <a:solidFill>
                  <a:srgbClr val="F3EEE3"/>
                </a:solidFill>
                <a:latin typeface="Calibri"/>
              </a:rPr>
              <a:t>logísticos</a:t>
            </a:r>
            <a:r>
              <a:rPr sz="2400" dirty="0">
                <a:solidFill>
                  <a:srgbClr val="F3EEE3"/>
                </a:solidFill>
                <a:latin typeface="Calibri"/>
              </a:rPr>
              <a:t> </a:t>
            </a:r>
            <a:r>
              <a:rPr sz="2400" dirty="0" err="1">
                <a:solidFill>
                  <a:srgbClr val="F3EEE3"/>
                </a:solidFill>
                <a:latin typeface="Calibri"/>
              </a:rPr>
              <a:t>frente</a:t>
            </a:r>
            <a:r>
              <a:rPr sz="2400" dirty="0">
                <a:solidFill>
                  <a:srgbClr val="F3EEE3"/>
                </a:solidFill>
                <a:latin typeface="Calibri"/>
              </a:rPr>
              <a:t> al </a:t>
            </a:r>
            <a:r>
              <a:rPr sz="2400" dirty="0" err="1">
                <a:solidFill>
                  <a:srgbClr val="F3EEE3"/>
                </a:solidFill>
                <a:latin typeface="Calibri"/>
              </a:rPr>
              <a:t>flete</a:t>
            </a:r>
            <a:r>
              <a:rPr sz="2400" dirty="0">
                <a:solidFill>
                  <a:srgbClr val="F3EEE3"/>
                </a:solidFill>
                <a:latin typeface="Calibri"/>
              </a:rPr>
              <a:t> </a:t>
            </a:r>
            <a:r>
              <a:rPr sz="2400" dirty="0" err="1">
                <a:solidFill>
                  <a:srgbClr val="F3EEE3"/>
                </a:solidFill>
                <a:latin typeface="Calibri"/>
              </a:rPr>
              <a:t>marítimo</a:t>
            </a:r>
            <a:r>
              <a:rPr sz="2400" dirty="0">
                <a:solidFill>
                  <a:srgbClr val="F3EEE3"/>
                </a:solidFill>
                <a:latin typeface="Calibri"/>
              </a:rPr>
              <a:t>/</a:t>
            </a:r>
            <a:r>
              <a:rPr sz="2400" dirty="0" err="1">
                <a:solidFill>
                  <a:srgbClr val="F3EEE3"/>
                </a:solidFill>
                <a:latin typeface="Calibri"/>
              </a:rPr>
              <a:t>aéreo</a:t>
            </a:r>
            <a:r>
              <a:rPr sz="2400" dirty="0">
                <a:solidFill>
                  <a:srgbClr val="F3EEE3"/>
                </a:solidFill>
                <a:latin typeface="Calibri"/>
              </a:rPr>
              <a:t>, </a:t>
            </a:r>
            <a:r>
              <a:rPr sz="2400" dirty="0" err="1">
                <a:solidFill>
                  <a:srgbClr val="F3EEE3"/>
                </a:solidFill>
                <a:latin typeface="Calibri"/>
              </a:rPr>
              <a:t>volátil</a:t>
            </a:r>
            <a:r>
              <a:rPr sz="2400" dirty="0">
                <a:solidFill>
                  <a:srgbClr val="F3EEE3"/>
                </a:solidFill>
                <a:latin typeface="Calibri"/>
              </a:rPr>
              <a:t> </a:t>
            </a:r>
            <a:r>
              <a:rPr sz="2400" dirty="0" err="1">
                <a:solidFill>
                  <a:srgbClr val="F3EEE3"/>
                </a:solidFill>
                <a:latin typeface="Calibri"/>
              </a:rPr>
              <a:t>en</a:t>
            </a:r>
            <a:r>
              <a:rPr sz="2400" dirty="0">
                <a:solidFill>
                  <a:srgbClr val="F3EEE3"/>
                </a:solidFill>
                <a:latin typeface="Calibri"/>
              </a:rPr>
              <a:t> 2026.</a:t>
            </a:r>
          </a:p>
          <a:p>
            <a:pPr>
              <a:lnSpc>
                <a:spcPct val="115000"/>
              </a:lnSpc>
              <a:spcAft>
                <a:spcPts val="1200"/>
              </a:spcAft>
            </a:pPr>
            <a:r>
              <a:rPr sz="2400" b="1" dirty="0">
                <a:solidFill>
                  <a:srgbClr val="D97A3F"/>
                </a:solidFill>
                <a:latin typeface="Calibri"/>
              </a:rPr>
              <a:t>●  Puerta de entrada al </a:t>
            </a:r>
            <a:r>
              <a:rPr sz="2400" b="1" dirty="0" err="1">
                <a:solidFill>
                  <a:srgbClr val="D97A3F"/>
                </a:solidFill>
                <a:latin typeface="Calibri"/>
              </a:rPr>
              <a:t>bloque</a:t>
            </a:r>
            <a:r>
              <a:rPr sz="2400" b="1" dirty="0">
                <a:solidFill>
                  <a:srgbClr val="D97A3F"/>
                </a:solidFill>
                <a:latin typeface="Calibri"/>
              </a:rPr>
              <a:t> CA-4 — </a:t>
            </a:r>
            <a:r>
              <a:rPr sz="2400" dirty="0">
                <a:solidFill>
                  <a:srgbClr val="F3EEE3"/>
                </a:solidFill>
                <a:latin typeface="Calibri"/>
              </a:rPr>
              <a:t>junto con El Salvador, Honduras y Nicaragua, con libre </a:t>
            </a:r>
            <a:r>
              <a:rPr sz="2400" dirty="0" err="1">
                <a:solidFill>
                  <a:srgbClr val="F3EEE3"/>
                </a:solidFill>
                <a:latin typeface="Calibri"/>
              </a:rPr>
              <a:t>movilidad</a:t>
            </a:r>
            <a:r>
              <a:rPr sz="2400" dirty="0">
                <a:solidFill>
                  <a:srgbClr val="F3EEE3"/>
                </a:solidFill>
                <a:latin typeface="Calibri"/>
              </a:rPr>
              <a:t> de </a:t>
            </a:r>
            <a:r>
              <a:rPr sz="2400" dirty="0" err="1">
                <a:solidFill>
                  <a:srgbClr val="F3EEE3"/>
                </a:solidFill>
                <a:latin typeface="Calibri"/>
              </a:rPr>
              <a:t>mercancías</a:t>
            </a:r>
            <a:r>
              <a:rPr sz="2400" dirty="0">
                <a:solidFill>
                  <a:srgbClr val="F3EEE3"/>
                </a:solidFill>
                <a:latin typeface="Calibri"/>
              </a:rPr>
              <a:t>.</a:t>
            </a:r>
          </a:p>
          <a:p>
            <a:pPr>
              <a:lnSpc>
                <a:spcPct val="115000"/>
              </a:lnSpc>
              <a:spcAft>
                <a:spcPts val="1200"/>
              </a:spcAft>
            </a:pPr>
            <a:r>
              <a:rPr sz="2400" b="1" dirty="0">
                <a:solidFill>
                  <a:srgbClr val="D97A3F"/>
                </a:solidFill>
                <a:latin typeface="Calibri"/>
              </a:rPr>
              <a:t>●  </a:t>
            </a:r>
            <a:r>
              <a:rPr sz="2400" b="1" dirty="0" err="1">
                <a:solidFill>
                  <a:srgbClr val="D97A3F"/>
                </a:solidFill>
                <a:latin typeface="Calibri"/>
              </a:rPr>
              <a:t>Demanda</a:t>
            </a:r>
            <a:r>
              <a:rPr sz="2400" b="1" dirty="0">
                <a:solidFill>
                  <a:srgbClr val="D97A3F"/>
                </a:solidFill>
                <a:latin typeface="Calibri"/>
              </a:rPr>
              <a:t> </a:t>
            </a:r>
            <a:r>
              <a:rPr sz="2400" b="1" dirty="0" err="1">
                <a:solidFill>
                  <a:srgbClr val="D97A3F"/>
                </a:solidFill>
                <a:latin typeface="Calibri"/>
              </a:rPr>
              <a:t>creciente</a:t>
            </a:r>
            <a:r>
              <a:rPr sz="2400" b="1" dirty="0">
                <a:solidFill>
                  <a:srgbClr val="D97A3F"/>
                </a:solidFill>
                <a:latin typeface="Calibri"/>
              </a:rPr>
              <a:t> — </a:t>
            </a:r>
            <a:r>
              <a:rPr sz="2400" dirty="0" err="1">
                <a:solidFill>
                  <a:srgbClr val="F3EEE3"/>
                </a:solidFill>
                <a:latin typeface="Calibri"/>
              </a:rPr>
              <a:t>el</a:t>
            </a:r>
            <a:r>
              <a:rPr sz="2400" dirty="0">
                <a:solidFill>
                  <a:srgbClr val="F3EEE3"/>
                </a:solidFill>
                <a:latin typeface="Calibri"/>
              </a:rPr>
              <a:t> mercado </a:t>
            </a:r>
            <a:r>
              <a:rPr sz="2400" dirty="0" err="1">
                <a:solidFill>
                  <a:srgbClr val="F3EEE3"/>
                </a:solidFill>
                <a:latin typeface="Calibri"/>
              </a:rPr>
              <a:t>guatemalteco</a:t>
            </a:r>
            <a:r>
              <a:rPr sz="2400" dirty="0">
                <a:solidFill>
                  <a:srgbClr val="F3EEE3"/>
                </a:solidFill>
                <a:latin typeface="Calibri"/>
              </a:rPr>
              <a:t> de snacks y </a:t>
            </a:r>
            <a:r>
              <a:rPr sz="2400" dirty="0" err="1">
                <a:solidFill>
                  <a:srgbClr val="F3EEE3"/>
                </a:solidFill>
                <a:latin typeface="Calibri"/>
              </a:rPr>
              <a:t>confitería</a:t>
            </a:r>
            <a:r>
              <a:rPr sz="2400" dirty="0">
                <a:solidFill>
                  <a:srgbClr val="F3EEE3"/>
                </a:solidFill>
                <a:latin typeface="Calibri"/>
              </a:rPr>
              <a:t> </a:t>
            </a:r>
            <a:r>
              <a:rPr sz="2400" dirty="0" err="1">
                <a:solidFill>
                  <a:srgbClr val="F3EEE3"/>
                </a:solidFill>
                <a:latin typeface="Calibri"/>
              </a:rPr>
              <a:t>crece</a:t>
            </a:r>
            <a:r>
              <a:rPr sz="2400" dirty="0">
                <a:solidFill>
                  <a:srgbClr val="F3EEE3"/>
                </a:solidFill>
                <a:latin typeface="Calibri"/>
              </a:rPr>
              <a:t> </a:t>
            </a:r>
            <a:r>
              <a:rPr sz="2400" dirty="0" err="1">
                <a:solidFill>
                  <a:srgbClr val="F3EEE3"/>
                </a:solidFill>
                <a:latin typeface="Calibri"/>
              </a:rPr>
              <a:t>sostenidamente</a:t>
            </a:r>
            <a:r>
              <a:rPr sz="2400" dirty="0">
                <a:solidFill>
                  <a:srgbClr val="F3EEE3"/>
                </a:solidFill>
                <a:latin typeface="Calibri"/>
              </a:rPr>
              <a:t> </a:t>
            </a:r>
            <a:r>
              <a:rPr sz="2400" dirty="0" err="1">
                <a:solidFill>
                  <a:srgbClr val="F3EEE3"/>
                </a:solidFill>
                <a:latin typeface="Calibri"/>
              </a:rPr>
              <a:t>hacia</a:t>
            </a:r>
            <a:r>
              <a:rPr sz="2400" dirty="0">
                <a:solidFill>
                  <a:srgbClr val="F3EEE3"/>
                </a:solidFill>
                <a:latin typeface="Calibri"/>
              </a:rPr>
              <a:t> </a:t>
            </a:r>
            <a:r>
              <a:rPr sz="2400" dirty="0" err="1">
                <a:solidFill>
                  <a:srgbClr val="F3EEE3"/>
                </a:solidFill>
                <a:latin typeface="Calibri"/>
              </a:rPr>
              <a:t>productos</a:t>
            </a:r>
            <a:r>
              <a:rPr sz="2400" dirty="0">
                <a:solidFill>
                  <a:srgbClr val="F3EEE3"/>
                </a:solidFill>
                <a:latin typeface="Calibri"/>
              </a:rPr>
              <a:t> </a:t>
            </a:r>
            <a:r>
              <a:rPr sz="2400" dirty="0" err="1">
                <a:solidFill>
                  <a:srgbClr val="F3EEE3"/>
                </a:solidFill>
                <a:latin typeface="Calibri"/>
              </a:rPr>
              <a:t>más</a:t>
            </a:r>
            <a:r>
              <a:rPr sz="2400" dirty="0">
                <a:solidFill>
                  <a:srgbClr val="F3EEE3"/>
                </a:solidFill>
                <a:latin typeface="Calibri"/>
              </a:rPr>
              <a:t> </a:t>
            </a:r>
            <a:r>
              <a:rPr sz="2400" dirty="0" err="1">
                <a:solidFill>
                  <a:srgbClr val="F3EEE3"/>
                </a:solidFill>
                <a:latin typeface="Calibri"/>
              </a:rPr>
              <a:t>saludables</a:t>
            </a:r>
            <a:r>
              <a:rPr sz="2400" dirty="0">
                <a:solidFill>
                  <a:srgbClr val="F3EEE3"/>
                </a:solidFill>
                <a:latin typeface="Calibri"/>
              </a:rPr>
              <a:t> y premium.</a:t>
            </a:r>
          </a:p>
          <a:p>
            <a:pPr>
              <a:lnSpc>
                <a:spcPct val="115000"/>
              </a:lnSpc>
              <a:spcAft>
                <a:spcPts val="1200"/>
              </a:spcAft>
            </a:pPr>
            <a:r>
              <a:rPr sz="2400" b="1" dirty="0">
                <a:solidFill>
                  <a:srgbClr val="D97A3F"/>
                </a:solidFill>
                <a:latin typeface="Calibri"/>
              </a:rPr>
              <a:t>●  </a:t>
            </a:r>
            <a:r>
              <a:rPr sz="2400" b="1" dirty="0" err="1">
                <a:solidFill>
                  <a:srgbClr val="D97A3F"/>
                </a:solidFill>
                <a:latin typeface="Calibri"/>
              </a:rPr>
              <a:t>Idioma</a:t>
            </a:r>
            <a:r>
              <a:rPr sz="2400" b="1" dirty="0">
                <a:solidFill>
                  <a:srgbClr val="D97A3F"/>
                </a:solidFill>
                <a:latin typeface="Calibri"/>
              </a:rPr>
              <a:t> y </a:t>
            </a:r>
            <a:r>
              <a:rPr sz="2400" b="1" dirty="0" err="1">
                <a:solidFill>
                  <a:srgbClr val="D97A3F"/>
                </a:solidFill>
                <a:latin typeface="Calibri"/>
              </a:rPr>
              <a:t>cultura</a:t>
            </a:r>
            <a:r>
              <a:rPr sz="2400" b="1" dirty="0">
                <a:solidFill>
                  <a:srgbClr val="D97A3F"/>
                </a:solidFill>
                <a:latin typeface="Calibri"/>
              </a:rPr>
              <a:t> </a:t>
            </a:r>
            <a:r>
              <a:rPr sz="2400" b="1" dirty="0" err="1">
                <a:solidFill>
                  <a:srgbClr val="D97A3F"/>
                </a:solidFill>
                <a:latin typeface="Calibri"/>
              </a:rPr>
              <a:t>compartidos</a:t>
            </a:r>
            <a:r>
              <a:rPr sz="2400" b="1" dirty="0">
                <a:solidFill>
                  <a:srgbClr val="D97A3F"/>
                </a:solidFill>
                <a:latin typeface="Calibri"/>
              </a:rPr>
              <a:t> — </a:t>
            </a:r>
            <a:r>
              <a:rPr sz="2400" dirty="0">
                <a:solidFill>
                  <a:srgbClr val="F3EEE3"/>
                </a:solidFill>
                <a:latin typeface="Calibri"/>
              </a:rPr>
              <a:t>con México, lo que reduce las barreras de </a:t>
            </a:r>
            <a:r>
              <a:rPr sz="2400" dirty="0" err="1">
                <a:solidFill>
                  <a:srgbClr val="F3EEE3"/>
                </a:solidFill>
                <a:latin typeface="Calibri"/>
              </a:rPr>
              <a:t>comunicación</a:t>
            </a:r>
            <a:r>
              <a:rPr sz="2400" dirty="0">
                <a:solidFill>
                  <a:srgbClr val="F3EEE3"/>
                </a:solidFill>
                <a:latin typeface="Calibri"/>
              </a:rPr>
              <a:t> y </a:t>
            </a:r>
            <a:r>
              <a:rPr sz="2400" dirty="0" err="1">
                <a:solidFill>
                  <a:srgbClr val="F3EEE3"/>
                </a:solidFill>
                <a:latin typeface="Calibri"/>
              </a:rPr>
              <a:t>adaptación</a:t>
            </a:r>
            <a:r>
              <a:rPr sz="2400" dirty="0">
                <a:solidFill>
                  <a:srgbClr val="F3EEE3"/>
                </a:solidFill>
                <a:latin typeface="Calibri"/>
              </a:rPr>
              <a:t> del </a:t>
            </a:r>
            <a:r>
              <a:rPr sz="2400" dirty="0" err="1">
                <a:solidFill>
                  <a:srgbClr val="F3EEE3"/>
                </a:solidFill>
                <a:latin typeface="Calibri"/>
              </a:rPr>
              <a:t>mensaje</a:t>
            </a:r>
            <a:r>
              <a:rPr sz="2400" dirty="0">
                <a:solidFill>
                  <a:srgbClr val="F3EEE3"/>
                </a:solidFill>
                <a:latin typeface="Calibri"/>
              </a:rPr>
              <a:t> </a:t>
            </a:r>
            <a:r>
              <a:rPr sz="2400" dirty="0" err="1">
                <a:solidFill>
                  <a:srgbClr val="F3EEE3"/>
                </a:solidFill>
                <a:latin typeface="Calibri"/>
              </a:rPr>
              <a:t>publicitario</a:t>
            </a:r>
            <a:r>
              <a:rPr sz="2400" dirty="0">
                <a:solidFill>
                  <a:srgbClr val="F3EEE3"/>
                </a:solidFill>
                <a:latin typeface="Calibri"/>
              </a:rPr>
              <a:t>.</a:t>
            </a:r>
          </a:p>
        </p:txBody>
      </p:sp>
      <p:sp>
        <p:nvSpPr>
          <p:cNvPr id="7" name="TextBox 6"/>
          <p:cNvSpPr txBox="1"/>
          <p:nvPr/>
        </p:nvSpPr>
        <p:spPr>
          <a:xfrm>
            <a:off x="365760" y="6446520"/>
            <a:ext cx="6400800" cy="320040"/>
          </a:xfrm>
          <a:prstGeom prst="rect">
            <a:avLst/>
          </a:prstGeom>
          <a:noFill/>
        </p:spPr>
        <p:txBody>
          <a:bodyPr wrap="square">
            <a:spAutoFit/>
          </a:bodyPr>
          <a:lstStyle/>
          <a:p>
            <a:pPr algn="l"/>
            <a:r>
              <a:rPr sz="1000" b="0" i="0">
                <a:solidFill>
                  <a:srgbClr val="2E2E2E"/>
                </a:solidFill>
                <a:latin typeface="Calibri"/>
              </a:rPr>
              <a:t>CRUJISANAS  |  Mercadotecnia Internacional</a:t>
            </a:r>
          </a:p>
        </p:txBody>
      </p:sp>
      <p:sp>
        <p:nvSpPr>
          <p:cNvPr id="8" name="TextBox 7"/>
          <p:cNvSpPr txBox="1"/>
          <p:nvPr/>
        </p:nvSpPr>
        <p:spPr>
          <a:xfrm>
            <a:off x="11430000" y="6446520"/>
            <a:ext cx="457200" cy="320040"/>
          </a:xfrm>
          <a:prstGeom prst="rect">
            <a:avLst/>
          </a:prstGeom>
          <a:noFill/>
        </p:spPr>
        <p:txBody>
          <a:bodyPr wrap="square">
            <a:spAutoFit/>
          </a:bodyPr>
          <a:lstStyle/>
          <a:p>
            <a:pPr algn="r"/>
            <a:r>
              <a:rPr sz="1000" b="0" i="0">
                <a:solidFill>
                  <a:srgbClr val="2E2E2E"/>
                </a:solidFill>
                <a:latin typeface="Calibri"/>
              </a:rPr>
              <a:t>7</a:t>
            </a:r>
          </a:p>
        </p:txBody>
      </p:sp>
      <p:pic>
        <p:nvPicPr>
          <p:cNvPr id="6148" name="Picture 4" descr="Understand the Guatemalan Flag">
            <a:extLst>
              <a:ext uri="{FF2B5EF4-FFF2-40B4-BE49-F238E27FC236}">
                <a16:creationId xmlns:a16="http://schemas.microsoft.com/office/drawing/2014/main" id="{17A93C11-2E10-49FE-A235-827DD0787BC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534"/>
          <a:stretch/>
        </p:blipFill>
        <p:spPr bwMode="auto">
          <a:xfrm>
            <a:off x="7644215" y="1546376"/>
            <a:ext cx="4180146" cy="35147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81818"/>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D9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515600" y="109728"/>
            <a:ext cx="1463040" cy="914400"/>
          </a:xfrm>
          <a:prstGeom prst="rect">
            <a:avLst/>
          </a:prstGeom>
          <a:noFill/>
        </p:spPr>
        <p:txBody>
          <a:bodyPr wrap="square">
            <a:spAutoFit/>
          </a:bodyPr>
          <a:lstStyle/>
          <a:p>
            <a:pPr algn="r"/>
            <a:r>
              <a:rPr sz="4800" b="1" i="0">
                <a:solidFill>
                  <a:srgbClr val="2E2E2E"/>
                </a:solidFill>
                <a:latin typeface="Calibri"/>
              </a:rPr>
              <a:t>05</a:t>
            </a:r>
          </a:p>
        </p:txBody>
      </p:sp>
      <p:sp>
        <p:nvSpPr>
          <p:cNvPr id="4" name="TextBox 3"/>
          <p:cNvSpPr txBox="1"/>
          <p:nvPr/>
        </p:nvSpPr>
        <p:spPr>
          <a:xfrm>
            <a:off x="548640" y="320040"/>
            <a:ext cx="9601200" cy="822960"/>
          </a:xfrm>
          <a:prstGeom prst="rect">
            <a:avLst/>
          </a:prstGeom>
          <a:noFill/>
        </p:spPr>
        <p:txBody>
          <a:bodyPr wrap="square">
            <a:spAutoFit/>
          </a:bodyPr>
          <a:lstStyle/>
          <a:p>
            <a:pPr algn="l"/>
            <a:r>
              <a:rPr sz="3000" b="1" i="0">
                <a:solidFill>
                  <a:srgbClr val="F3EEE3"/>
                </a:solidFill>
                <a:latin typeface="Calibri"/>
              </a:rPr>
              <a:t>Análisis del entorno (I)</a:t>
            </a:r>
          </a:p>
        </p:txBody>
      </p:sp>
      <p:sp>
        <p:nvSpPr>
          <p:cNvPr id="5" name="Rectangle 4"/>
          <p:cNvSpPr/>
          <p:nvPr/>
        </p:nvSpPr>
        <p:spPr>
          <a:xfrm>
            <a:off x="594360" y="960120"/>
            <a:ext cx="1005840" cy="50800"/>
          </a:xfrm>
          <a:prstGeom prst="rect">
            <a:avLst/>
          </a:prstGeom>
          <a:solidFill>
            <a:srgbClr val="D9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4360" y="1463040"/>
            <a:ext cx="5212080" cy="2103120"/>
          </a:xfrm>
          <a:prstGeom prst="rect">
            <a:avLst/>
          </a:prstGeom>
          <a:solidFill>
            <a:srgbClr val="2E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463040"/>
            <a:ext cx="64008" cy="2103120"/>
          </a:xfrm>
          <a:prstGeom prst="rect">
            <a:avLst/>
          </a:prstGeom>
          <a:solidFill>
            <a:srgbClr val="7A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572768"/>
            <a:ext cx="4846320" cy="365760"/>
          </a:xfrm>
          <a:prstGeom prst="rect">
            <a:avLst/>
          </a:prstGeom>
          <a:noFill/>
        </p:spPr>
        <p:txBody>
          <a:bodyPr wrap="square">
            <a:spAutoFit/>
          </a:bodyPr>
          <a:lstStyle/>
          <a:p>
            <a:pPr algn="l"/>
            <a:r>
              <a:rPr sz="1600" b="1" i="0">
                <a:solidFill>
                  <a:srgbClr val="7A9A5B"/>
                </a:solidFill>
                <a:latin typeface="Calibri"/>
              </a:rPr>
              <a:t>Cultura</a:t>
            </a:r>
          </a:p>
        </p:txBody>
      </p:sp>
      <p:sp>
        <p:nvSpPr>
          <p:cNvPr id="9" name="TextBox 8"/>
          <p:cNvSpPr txBox="1"/>
          <p:nvPr/>
        </p:nvSpPr>
        <p:spPr>
          <a:xfrm>
            <a:off x="822960" y="1965960"/>
            <a:ext cx="4800600" cy="1463040"/>
          </a:xfrm>
          <a:prstGeom prst="rect">
            <a:avLst/>
          </a:prstGeom>
          <a:noFill/>
        </p:spPr>
        <p:txBody>
          <a:bodyPr wrap="square">
            <a:spAutoFit/>
          </a:bodyPr>
          <a:lstStyle/>
          <a:p>
            <a:pPr algn="l"/>
            <a:r>
              <a:rPr sz="1250" b="0" i="0">
                <a:solidFill>
                  <a:srgbClr val="F3EEE3"/>
                </a:solidFill>
                <a:latin typeface="Calibri"/>
              </a:rPr>
              <a:t>Afinidad latinoamericana muy cercana a México; no se anticipan barreras culturales significativas.</a:t>
            </a:r>
          </a:p>
        </p:txBody>
      </p:sp>
      <p:sp>
        <p:nvSpPr>
          <p:cNvPr id="10" name="Rectangle 9"/>
          <p:cNvSpPr/>
          <p:nvPr/>
        </p:nvSpPr>
        <p:spPr>
          <a:xfrm>
            <a:off x="6035040" y="1463040"/>
            <a:ext cx="5394960" cy="2103120"/>
          </a:xfrm>
          <a:prstGeom prst="rect">
            <a:avLst/>
          </a:prstGeom>
          <a:solidFill>
            <a:srgbClr val="2E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035040" y="1463040"/>
            <a:ext cx="64008" cy="2103120"/>
          </a:xfrm>
          <a:prstGeom prst="rect">
            <a:avLst/>
          </a:prstGeom>
          <a:solidFill>
            <a:srgbClr val="D9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63640" y="1572768"/>
            <a:ext cx="5029200" cy="365760"/>
          </a:xfrm>
          <a:prstGeom prst="rect">
            <a:avLst/>
          </a:prstGeom>
          <a:noFill/>
        </p:spPr>
        <p:txBody>
          <a:bodyPr wrap="square">
            <a:spAutoFit/>
          </a:bodyPr>
          <a:lstStyle/>
          <a:p>
            <a:pPr algn="l"/>
            <a:r>
              <a:rPr sz="1600" b="1" i="0">
                <a:solidFill>
                  <a:srgbClr val="D97A3F"/>
                </a:solidFill>
                <a:latin typeface="Calibri"/>
              </a:rPr>
              <a:t>Idioma</a:t>
            </a:r>
          </a:p>
        </p:txBody>
      </p:sp>
      <p:sp>
        <p:nvSpPr>
          <p:cNvPr id="13" name="TextBox 12"/>
          <p:cNvSpPr txBox="1"/>
          <p:nvPr/>
        </p:nvSpPr>
        <p:spPr>
          <a:xfrm>
            <a:off x="6263640" y="1965960"/>
            <a:ext cx="4983480" cy="1463040"/>
          </a:xfrm>
          <a:prstGeom prst="rect">
            <a:avLst/>
          </a:prstGeom>
          <a:noFill/>
        </p:spPr>
        <p:txBody>
          <a:bodyPr wrap="square">
            <a:spAutoFit/>
          </a:bodyPr>
          <a:lstStyle/>
          <a:p>
            <a:pPr algn="l"/>
            <a:r>
              <a:rPr sz="1250" b="0" i="0">
                <a:solidFill>
                  <a:srgbClr val="F3EEE3"/>
                </a:solidFill>
                <a:latin typeface="Calibri"/>
              </a:rPr>
              <a:t>Español en ambos países: no requiere traducción, aunque sí adaptar el etiquetado a normativas locales.</a:t>
            </a:r>
          </a:p>
        </p:txBody>
      </p:sp>
      <p:sp>
        <p:nvSpPr>
          <p:cNvPr id="14" name="Rectangle 13"/>
          <p:cNvSpPr/>
          <p:nvPr/>
        </p:nvSpPr>
        <p:spPr>
          <a:xfrm>
            <a:off x="594360" y="3794760"/>
            <a:ext cx="5212080" cy="2331720"/>
          </a:xfrm>
          <a:prstGeom prst="rect">
            <a:avLst/>
          </a:prstGeom>
          <a:solidFill>
            <a:srgbClr val="2E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4360" y="3794760"/>
            <a:ext cx="64008" cy="2331720"/>
          </a:xfrm>
          <a:prstGeom prst="rect">
            <a:avLst/>
          </a:prstGeom>
          <a:solidFill>
            <a:srgbClr val="7A3B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904488"/>
            <a:ext cx="4846320" cy="365760"/>
          </a:xfrm>
          <a:prstGeom prst="rect">
            <a:avLst/>
          </a:prstGeom>
          <a:noFill/>
        </p:spPr>
        <p:txBody>
          <a:bodyPr wrap="square">
            <a:spAutoFit/>
          </a:bodyPr>
          <a:lstStyle/>
          <a:p>
            <a:pPr algn="l"/>
            <a:r>
              <a:rPr sz="1600" b="1" i="0">
                <a:solidFill>
                  <a:srgbClr val="7A3B5D"/>
                </a:solidFill>
                <a:latin typeface="Calibri"/>
              </a:rPr>
              <a:t>Economía</a:t>
            </a:r>
          </a:p>
        </p:txBody>
      </p:sp>
      <p:sp>
        <p:nvSpPr>
          <p:cNvPr id="17" name="TextBox 16"/>
          <p:cNvSpPr txBox="1"/>
          <p:nvPr/>
        </p:nvSpPr>
        <p:spPr>
          <a:xfrm>
            <a:off x="822960" y="4297680"/>
            <a:ext cx="4800600" cy="1691640"/>
          </a:xfrm>
          <a:prstGeom prst="rect">
            <a:avLst/>
          </a:prstGeom>
          <a:noFill/>
        </p:spPr>
        <p:txBody>
          <a:bodyPr wrap="square">
            <a:spAutoFit/>
          </a:bodyPr>
          <a:lstStyle/>
          <a:p>
            <a:pPr algn="l"/>
            <a:r>
              <a:rPr sz="1250" b="0" i="0">
                <a:solidFill>
                  <a:srgbClr val="F3EEE3"/>
                </a:solidFill>
                <a:latin typeface="Calibri"/>
              </a:rPr>
              <a:t>Crecimiento del PIB ~3.3% anual, pero con alta desigualdad → enfocar el lanzamiento en clase media urbana de Ciudad de Guatemala.</a:t>
            </a:r>
          </a:p>
        </p:txBody>
      </p:sp>
      <p:sp>
        <p:nvSpPr>
          <p:cNvPr id="18" name="Rectangle 17"/>
          <p:cNvSpPr/>
          <p:nvPr/>
        </p:nvSpPr>
        <p:spPr>
          <a:xfrm>
            <a:off x="6035040" y="3794760"/>
            <a:ext cx="5394960" cy="2331720"/>
          </a:xfrm>
          <a:prstGeom prst="rect">
            <a:avLst/>
          </a:prstGeom>
          <a:solidFill>
            <a:srgbClr val="2E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035040" y="3794760"/>
            <a:ext cx="64008" cy="2331720"/>
          </a:xfrm>
          <a:prstGeom prst="rect">
            <a:avLst/>
          </a:prstGeom>
          <a:solidFill>
            <a:srgbClr val="7A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63640" y="3904488"/>
            <a:ext cx="5029200" cy="365760"/>
          </a:xfrm>
          <a:prstGeom prst="rect">
            <a:avLst/>
          </a:prstGeom>
          <a:noFill/>
        </p:spPr>
        <p:txBody>
          <a:bodyPr wrap="square">
            <a:spAutoFit/>
          </a:bodyPr>
          <a:lstStyle/>
          <a:p>
            <a:pPr algn="l"/>
            <a:r>
              <a:rPr sz="1600" b="1" i="0">
                <a:solidFill>
                  <a:srgbClr val="7A9A5B"/>
                </a:solidFill>
                <a:latin typeface="Calibri"/>
              </a:rPr>
              <a:t>Competencia</a:t>
            </a:r>
          </a:p>
        </p:txBody>
      </p:sp>
      <p:sp>
        <p:nvSpPr>
          <p:cNvPr id="21" name="TextBox 20"/>
          <p:cNvSpPr txBox="1"/>
          <p:nvPr/>
        </p:nvSpPr>
        <p:spPr>
          <a:xfrm>
            <a:off x="6263640" y="4297680"/>
            <a:ext cx="4983480" cy="1691640"/>
          </a:xfrm>
          <a:prstGeom prst="rect">
            <a:avLst/>
          </a:prstGeom>
          <a:noFill/>
        </p:spPr>
        <p:txBody>
          <a:bodyPr wrap="square">
            <a:spAutoFit/>
          </a:bodyPr>
          <a:lstStyle/>
          <a:p>
            <a:pPr algn="l"/>
            <a:r>
              <a:rPr sz="1250" b="0" i="0">
                <a:solidFill>
                  <a:srgbClr val="F3EEE3"/>
                </a:solidFill>
                <a:latin typeface="Calibri"/>
              </a:rPr>
              <a:t>Sabritas (PepsiCo) y Barcel (Grupo Bimbo) ya consolidadas → diferenciarse como opción saludable/premium, no competir en precio ni volumen.</a:t>
            </a:r>
          </a:p>
        </p:txBody>
      </p:sp>
      <p:sp>
        <p:nvSpPr>
          <p:cNvPr id="22" name="TextBox 21"/>
          <p:cNvSpPr txBox="1"/>
          <p:nvPr/>
        </p:nvSpPr>
        <p:spPr>
          <a:xfrm>
            <a:off x="365760" y="6446520"/>
            <a:ext cx="6400800" cy="320040"/>
          </a:xfrm>
          <a:prstGeom prst="rect">
            <a:avLst/>
          </a:prstGeom>
          <a:noFill/>
        </p:spPr>
        <p:txBody>
          <a:bodyPr wrap="square">
            <a:spAutoFit/>
          </a:bodyPr>
          <a:lstStyle/>
          <a:p>
            <a:pPr algn="l"/>
            <a:r>
              <a:rPr sz="1000" b="0" i="0">
                <a:solidFill>
                  <a:srgbClr val="2E2E2E"/>
                </a:solidFill>
                <a:latin typeface="Calibri"/>
              </a:rPr>
              <a:t>CRUJISANAS  |  Mercadotecnia Internacional</a:t>
            </a:r>
          </a:p>
        </p:txBody>
      </p:sp>
      <p:sp>
        <p:nvSpPr>
          <p:cNvPr id="23" name="TextBox 22"/>
          <p:cNvSpPr txBox="1"/>
          <p:nvPr/>
        </p:nvSpPr>
        <p:spPr>
          <a:xfrm>
            <a:off x="11430000" y="6446520"/>
            <a:ext cx="457200" cy="320040"/>
          </a:xfrm>
          <a:prstGeom prst="rect">
            <a:avLst/>
          </a:prstGeom>
          <a:noFill/>
        </p:spPr>
        <p:txBody>
          <a:bodyPr wrap="square">
            <a:spAutoFit/>
          </a:bodyPr>
          <a:lstStyle/>
          <a:p>
            <a:pPr algn="r"/>
            <a:r>
              <a:rPr sz="1000" b="0" i="0">
                <a:solidFill>
                  <a:srgbClr val="2E2E2E"/>
                </a:solidFill>
                <a:latin typeface="Calibri"/>
              </a:rP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81818"/>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D9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515600" y="109728"/>
            <a:ext cx="1463040" cy="914400"/>
          </a:xfrm>
          <a:prstGeom prst="rect">
            <a:avLst/>
          </a:prstGeom>
          <a:noFill/>
        </p:spPr>
        <p:txBody>
          <a:bodyPr wrap="square">
            <a:spAutoFit/>
          </a:bodyPr>
          <a:lstStyle/>
          <a:p>
            <a:pPr algn="r"/>
            <a:r>
              <a:rPr sz="4800" b="1" i="0">
                <a:solidFill>
                  <a:srgbClr val="2E2E2E"/>
                </a:solidFill>
                <a:latin typeface="Calibri"/>
              </a:rPr>
              <a:t>05</a:t>
            </a:r>
          </a:p>
        </p:txBody>
      </p:sp>
      <p:sp>
        <p:nvSpPr>
          <p:cNvPr id="4" name="TextBox 3"/>
          <p:cNvSpPr txBox="1"/>
          <p:nvPr/>
        </p:nvSpPr>
        <p:spPr>
          <a:xfrm>
            <a:off x="548640" y="320040"/>
            <a:ext cx="9601200" cy="822960"/>
          </a:xfrm>
          <a:prstGeom prst="rect">
            <a:avLst/>
          </a:prstGeom>
          <a:noFill/>
        </p:spPr>
        <p:txBody>
          <a:bodyPr wrap="square">
            <a:spAutoFit/>
          </a:bodyPr>
          <a:lstStyle/>
          <a:p>
            <a:pPr algn="l"/>
            <a:r>
              <a:rPr sz="3000" b="1" i="0">
                <a:solidFill>
                  <a:srgbClr val="F3EEE3"/>
                </a:solidFill>
                <a:latin typeface="Calibri"/>
              </a:rPr>
              <a:t>Análisis del entorno (II)</a:t>
            </a:r>
          </a:p>
        </p:txBody>
      </p:sp>
      <p:sp>
        <p:nvSpPr>
          <p:cNvPr id="5" name="Rectangle 4"/>
          <p:cNvSpPr/>
          <p:nvPr/>
        </p:nvSpPr>
        <p:spPr>
          <a:xfrm>
            <a:off x="594360" y="960120"/>
            <a:ext cx="1005840" cy="50800"/>
          </a:xfrm>
          <a:prstGeom prst="rect">
            <a:avLst/>
          </a:prstGeom>
          <a:solidFill>
            <a:srgbClr val="D9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4360" y="1463040"/>
            <a:ext cx="5212080" cy="2103120"/>
          </a:xfrm>
          <a:prstGeom prst="rect">
            <a:avLst/>
          </a:prstGeom>
          <a:solidFill>
            <a:srgbClr val="2E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463040"/>
            <a:ext cx="64008" cy="2103120"/>
          </a:xfrm>
          <a:prstGeom prst="rect">
            <a:avLst/>
          </a:prstGeom>
          <a:solidFill>
            <a:srgbClr val="7A3B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572768"/>
            <a:ext cx="4846320" cy="365760"/>
          </a:xfrm>
          <a:prstGeom prst="rect">
            <a:avLst/>
          </a:prstGeom>
          <a:noFill/>
        </p:spPr>
        <p:txBody>
          <a:bodyPr wrap="square">
            <a:spAutoFit/>
          </a:bodyPr>
          <a:lstStyle/>
          <a:p>
            <a:pPr algn="l"/>
            <a:r>
              <a:rPr sz="1600" b="1" i="0">
                <a:solidFill>
                  <a:srgbClr val="7A3B5D"/>
                </a:solidFill>
                <a:latin typeface="Calibri"/>
              </a:rPr>
              <a:t>Regulación</a:t>
            </a:r>
          </a:p>
        </p:txBody>
      </p:sp>
      <p:sp>
        <p:nvSpPr>
          <p:cNvPr id="9" name="TextBox 8"/>
          <p:cNvSpPr txBox="1"/>
          <p:nvPr/>
        </p:nvSpPr>
        <p:spPr>
          <a:xfrm>
            <a:off x="822960" y="1965960"/>
            <a:ext cx="4800600" cy="1463040"/>
          </a:xfrm>
          <a:prstGeom prst="rect">
            <a:avLst/>
          </a:prstGeom>
          <a:noFill/>
        </p:spPr>
        <p:txBody>
          <a:bodyPr wrap="square">
            <a:spAutoFit/>
          </a:bodyPr>
          <a:lstStyle/>
          <a:p>
            <a:pPr algn="l"/>
            <a:r>
              <a:rPr sz="1250" b="0" i="0">
                <a:solidFill>
                  <a:srgbClr val="F3EEE3"/>
                </a:solidFill>
                <a:latin typeface="Calibri"/>
              </a:rPr>
              <a:t>RTCA exige etiquetado nutricional en español; posible etiquetado frontal (Iniciativa 5504) — Crujisanas ya cumple el mexicano.</a:t>
            </a:r>
          </a:p>
        </p:txBody>
      </p:sp>
      <p:sp>
        <p:nvSpPr>
          <p:cNvPr id="10" name="Rectangle 9"/>
          <p:cNvSpPr/>
          <p:nvPr/>
        </p:nvSpPr>
        <p:spPr>
          <a:xfrm>
            <a:off x="6035040" y="1463040"/>
            <a:ext cx="5394960" cy="2103120"/>
          </a:xfrm>
          <a:prstGeom prst="rect">
            <a:avLst/>
          </a:prstGeom>
          <a:solidFill>
            <a:srgbClr val="2E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035040" y="1463040"/>
            <a:ext cx="64008" cy="2103120"/>
          </a:xfrm>
          <a:prstGeom prst="rect">
            <a:avLst/>
          </a:prstGeom>
          <a:solidFill>
            <a:srgbClr val="D9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63640" y="1572768"/>
            <a:ext cx="5029200" cy="365760"/>
          </a:xfrm>
          <a:prstGeom prst="rect">
            <a:avLst/>
          </a:prstGeom>
          <a:noFill/>
        </p:spPr>
        <p:txBody>
          <a:bodyPr wrap="square">
            <a:spAutoFit/>
          </a:bodyPr>
          <a:lstStyle/>
          <a:p>
            <a:pPr algn="l"/>
            <a:r>
              <a:rPr sz="1600" b="1" i="0">
                <a:solidFill>
                  <a:srgbClr val="D97A3F"/>
                </a:solidFill>
                <a:latin typeface="Calibri"/>
              </a:rPr>
              <a:t>Tecnología</a:t>
            </a:r>
          </a:p>
        </p:txBody>
      </p:sp>
      <p:sp>
        <p:nvSpPr>
          <p:cNvPr id="13" name="TextBox 12"/>
          <p:cNvSpPr txBox="1"/>
          <p:nvPr/>
        </p:nvSpPr>
        <p:spPr>
          <a:xfrm>
            <a:off x="6263640" y="1965960"/>
            <a:ext cx="4983480" cy="1463040"/>
          </a:xfrm>
          <a:prstGeom prst="rect">
            <a:avLst/>
          </a:prstGeom>
          <a:noFill/>
        </p:spPr>
        <p:txBody>
          <a:bodyPr wrap="square">
            <a:spAutoFit/>
          </a:bodyPr>
          <a:lstStyle/>
          <a:p>
            <a:pPr algn="l"/>
            <a:r>
              <a:rPr sz="1250" b="0" i="0">
                <a:solidFill>
                  <a:srgbClr val="F3EEE3"/>
                </a:solidFill>
                <a:latin typeface="Calibri"/>
              </a:rPr>
              <a:t>E-commerce y redes sociales crecen sostenidamente, sobre todo entre jóvenes urbanos: viable el marketing digital de bajo costo.</a:t>
            </a:r>
          </a:p>
        </p:txBody>
      </p:sp>
      <p:sp>
        <p:nvSpPr>
          <p:cNvPr id="14" name="Rectangle 13"/>
          <p:cNvSpPr/>
          <p:nvPr/>
        </p:nvSpPr>
        <p:spPr>
          <a:xfrm>
            <a:off x="594360" y="3794760"/>
            <a:ext cx="5212080" cy="2331720"/>
          </a:xfrm>
          <a:prstGeom prst="rect">
            <a:avLst/>
          </a:prstGeom>
          <a:solidFill>
            <a:srgbClr val="2E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4360" y="3794760"/>
            <a:ext cx="64008" cy="2331720"/>
          </a:xfrm>
          <a:prstGeom prst="rect">
            <a:avLst/>
          </a:prstGeom>
          <a:solidFill>
            <a:srgbClr val="7A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904488"/>
            <a:ext cx="4846320" cy="365760"/>
          </a:xfrm>
          <a:prstGeom prst="rect">
            <a:avLst/>
          </a:prstGeom>
          <a:noFill/>
        </p:spPr>
        <p:txBody>
          <a:bodyPr wrap="square">
            <a:spAutoFit/>
          </a:bodyPr>
          <a:lstStyle/>
          <a:p>
            <a:pPr algn="l"/>
            <a:r>
              <a:rPr sz="1600" b="1" i="0">
                <a:solidFill>
                  <a:srgbClr val="7A9A5B"/>
                </a:solidFill>
                <a:latin typeface="Calibri"/>
              </a:rPr>
              <a:t>Tendencias</a:t>
            </a:r>
          </a:p>
        </p:txBody>
      </p:sp>
      <p:sp>
        <p:nvSpPr>
          <p:cNvPr id="17" name="TextBox 16"/>
          <p:cNvSpPr txBox="1"/>
          <p:nvPr/>
        </p:nvSpPr>
        <p:spPr>
          <a:xfrm>
            <a:off x="822960" y="4297680"/>
            <a:ext cx="4800600" cy="1691640"/>
          </a:xfrm>
          <a:prstGeom prst="rect">
            <a:avLst/>
          </a:prstGeom>
          <a:noFill/>
        </p:spPr>
        <p:txBody>
          <a:bodyPr wrap="square">
            <a:spAutoFit/>
          </a:bodyPr>
          <a:lstStyle/>
          <a:p>
            <a:pPr algn="l"/>
            <a:r>
              <a:rPr sz="1250" b="0" i="0">
                <a:solidFill>
                  <a:srgbClr val="F3EEE3"/>
                </a:solidFill>
                <a:latin typeface="Calibri"/>
              </a:rPr>
              <a:t>Crecimiento de snacks premium y saludables en centros urbanos, coincidiendo con la propuesta de valor de Crujisanas.</a:t>
            </a:r>
          </a:p>
        </p:txBody>
      </p:sp>
      <p:sp>
        <p:nvSpPr>
          <p:cNvPr id="18" name="Rectangle 17"/>
          <p:cNvSpPr/>
          <p:nvPr/>
        </p:nvSpPr>
        <p:spPr>
          <a:xfrm>
            <a:off x="6035040" y="3794760"/>
            <a:ext cx="5394960" cy="2331720"/>
          </a:xfrm>
          <a:prstGeom prst="rect">
            <a:avLst/>
          </a:prstGeom>
          <a:solidFill>
            <a:srgbClr val="2E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035040" y="3794760"/>
            <a:ext cx="64008" cy="2331720"/>
          </a:xfrm>
          <a:prstGeom prst="rect">
            <a:avLst/>
          </a:prstGeom>
          <a:solidFill>
            <a:srgbClr val="7A3B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63640" y="3904488"/>
            <a:ext cx="5029200" cy="365760"/>
          </a:xfrm>
          <a:prstGeom prst="rect">
            <a:avLst/>
          </a:prstGeom>
          <a:noFill/>
        </p:spPr>
        <p:txBody>
          <a:bodyPr wrap="square">
            <a:spAutoFit/>
          </a:bodyPr>
          <a:lstStyle/>
          <a:p>
            <a:pPr algn="l"/>
            <a:r>
              <a:rPr sz="1600" b="1" i="0">
                <a:solidFill>
                  <a:srgbClr val="7A3B5D"/>
                </a:solidFill>
                <a:latin typeface="Calibri"/>
              </a:rPr>
              <a:t>Factor macro 2026</a:t>
            </a:r>
          </a:p>
        </p:txBody>
      </p:sp>
      <p:sp>
        <p:nvSpPr>
          <p:cNvPr id="21" name="TextBox 20"/>
          <p:cNvSpPr txBox="1"/>
          <p:nvPr/>
        </p:nvSpPr>
        <p:spPr>
          <a:xfrm>
            <a:off x="6263640" y="4297680"/>
            <a:ext cx="4983480" cy="1691640"/>
          </a:xfrm>
          <a:prstGeom prst="rect">
            <a:avLst/>
          </a:prstGeom>
          <a:noFill/>
        </p:spPr>
        <p:txBody>
          <a:bodyPr wrap="square">
            <a:spAutoFit/>
          </a:bodyPr>
          <a:lstStyle/>
          <a:p>
            <a:pPr algn="l"/>
            <a:r>
              <a:rPr sz="1250" b="0" i="0">
                <a:solidFill>
                  <a:srgbClr val="F3EEE3"/>
                </a:solidFill>
                <a:latin typeface="Calibri"/>
              </a:rPr>
              <a:t>Aislado de la disputa arancelaria México–EE. UU., pero expuesto al tipo de cambio y a insumos importados (empaque, aditivos).</a:t>
            </a:r>
          </a:p>
        </p:txBody>
      </p:sp>
      <p:sp>
        <p:nvSpPr>
          <p:cNvPr id="22" name="TextBox 21"/>
          <p:cNvSpPr txBox="1"/>
          <p:nvPr/>
        </p:nvSpPr>
        <p:spPr>
          <a:xfrm>
            <a:off x="365760" y="6446520"/>
            <a:ext cx="6400800" cy="320040"/>
          </a:xfrm>
          <a:prstGeom prst="rect">
            <a:avLst/>
          </a:prstGeom>
          <a:noFill/>
        </p:spPr>
        <p:txBody>
          <a:bodyPr wrap="square">
            <a:spAutoFit/>
          </a:bodyPr>
          <a:lstStyle/>
          <a:p>
            <a:pPr algn="l"/>
            <a:r>
              <a:rPr sz="1000" b="0" i="0">
                <a:solidFill>
                  <a:srgbClr val="2E2E2E"/>
                </a:solidFill>
                <a:latin typeface="Calibri"/>
              </a:rPr>
              <a:t>CRUJISANAS  |  Mercadotecnia Internacional</a:t>
            </a:r>
          </a:p>
        </p:txBody>
      </p:sp>
      <p:sp>
        <p:nvSpPr>
          <p:cNvPr id="23" name="TextBox 22"/>
          <p:cNvSpPr txBox="1"/>
          <p:nvPr/>
        </p:nvSpPr>
        <p:spPr>
          <a:xfrm>
            <a:off x="11430000" y="6446520"/>
            <a:ext cx="457200" cy="320040"/>
          </a:xfrm>
          <a:prstGeom prst="rect">
            <a:avLst/>
          </a:prstGeom>
          <a:noFill/>
        </p:spPr>
        <p:txBody>
          <a:bodyPr wrap="square">
            <a:spAutoFit/>
          </a:bodyPr>
          <a:lstStyle/>
          <a:p>
            <a:pPr algn="r"/>
            <a:r>
              <a:rPr sz="1000" b="0" i="0">
                <a:solidFill>
                  <a:srgbClr val="2E2E2E"/>
                </a:solidFill>
                <a:latin typeface="Calibri"/>
              </a:rPr>
              <a:t>9</a:t>
            </a:r>
          </a:p>
        </p:txBody>
      </p:sp>
      <p:pic>
        <p:nvPicPr>
          <p:cNvPr id="12290" name="Picture 2" descr="OPSAa">
            <a:extLst>
              <a:ext uri="{FF2B5EF4-FFF2-40B4-BE49-F238E27FC236}">
                <a16:creationId xmlns:a16="http://schemas.microsoft.com/office/drawing/2014/main" id="{C2E62081-4746-414F-8560-45DF7F11DB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287" b="28713"/>
          <a:stretch/>
        </p:blipFill>
        <p:spPr bwMode="auto">
          <a:xfrm>
            <a:off x="3751705" y="2905137"/>
            <a:ext cx="2429639" cy="123609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81818"/>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7A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515600" y="109728"/>
            <a:ext cx="1463040" cy="914400"/>
          </a:xfrm>
          <a:prstGeom prst="rect">
            <a:avLst/>
          </a:prstGeom>
          <a:noFill/>
        </p:spPr>
        <p:txBody>
          <a:bodyPr wrap="square">
            <a:spAutoFit/>
          </a:bodyPr>
          <a:lstStyle/>
          <a:p>
            <a:pPr algn="r"/>
            <a:r>
              <a:rPr sz="4800" b="1" i="0">
                <a:solidFill>
                  <a:srgbClr val="2E2E2E"/>
                </a:solidFill>
                <a:latin typeface="Calibri"/>
              </a:rPr>
              <a:t>06</a:t>
            </a:r>
          </a:p>
        </p:txBody>
      </p:sp>
      <p:sp>
        <p:nvSpPr>
          <p:cNvPr id="4" name="TextBox 3"/>
          <p:cNvSpPr txBox="1"/>
          <p:nvPr/>
        </p:nvSpPr>
        <p:spPr>
          <a:xfrm>
            <a:off x="548640" y="320040"/>
            <a:ext cx="9601200" cy="822960"/>
          </a:xfrm>
          <a:prstGeom prst="rect">
            <a:avLst/>
          </a:prstGeom>
          <a:noFill/>
        </p:spPr>
        <p:txBody>
          <a:bodyPr wrap="square">
            <a:spAutoFit/>
          </a:bodyPr>
          <a:lstStyle/>
          <a:p>
            <a:pPr algn="l"/>
            <a:r>
              <a:rPr sz="3000" b="1" i="0">
                <a:solidFill>
                  <a:srgbClr val="F3EEE3"/>
                </a:solidFill>
                <a:latin typeface="Calibri"/>
              </a:rPr>
              <a:t>Propuesta de internacionalización</a:t>
            </a:r>
          </a:p>
        </p:txBody>
      </p:sp>
      <p:sp>
        <p:nvSpPr>
          <p:cNvPr id="5" name="Rectangle 4"/>
          <p:cNvSpPr/>
          <p:nvPr/>
        </p:nvSpPr>
        <p:spPr>
          <a:xfrm>
            <a:off x="594360" y="960120"/>
            <a:ext cx="1005840" cy="50800"/>
          </a:xfrm>
          <a:prstGeom prst="rect">
            <a:avLst/>
          </a:prstGeom>
          <a:solidFill>
            <a:srgbClr val="7A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4360" y="1463040"/>
            <a:ext cx="5212080" cy="2103120"/>
          </a:xfrm>
          <a:prstGeom prst="rect">
            <a:avLst/>
          </a:prstGeom>
          <a:solidFill>
            <a:srgbClr val="2E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463040"/>
            <a:ext cx="64008" cy="2103120"/>
          </a:xfrm>
          <a:prstGeom prst="rect">
            <a:avLst/>
          </a:prstGeom>
          <a:solidFill>
            <a:srgbClr val="D9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572768"/>
            <a:ext cx="4846320" cy="365760"/>
          </a:xfrm>
          <a:prstGeom prst="rect">
            <a:avLst/>
          </a:prstGeom>
          <a:noFill/>
        </p:spPr>
        <p:txBody>
          <a:bodyPr wrap="square">
            <a:spAutoFit/>
          </a:bodyPr>
          <a:lstStyle/>
          <a:p>
            <a:pPr algn="l"/>
            <a:r>
              <a:rPr sz="1600" b="1" i="0">
                <a:solidFill>
                  <a:srgbClr val="D97A3F"/>
                </a:solidFill>
                <a:latin typeface="Calibri"/>
              </a:rPr>
              <a:t>Producto</a:t>
            </a:r>
          </a:p>
        </p:txBody>
      </p:sp>
      <p:sp>
        <p:nvSpPr>
          <p:cNvPr id="9" name="TextBox 8"/>
          <p:cNvSpPr txBox="1"/>
          <p:nvPr/>
        </p:nvSpPr>
        <p:spPr>
          <a:xfrm>
            <a:off x="822960" y="1965960"/>
            <a:ext cx="4800600" cy="1463040"/>
          </a:xfrm>
          <a:prstGeom prst="rect">
            <a:avLst/>
          </a:prstGeom>
          <a:noFill/>
        </p:spPr>
        <p:txBody>
          <a:bodyPr wrap="square">
            <a:spAutoFit/>
          </a:bodyPr>
          <a:lstStyle/>
          <a:p>
            <a:pPr algn="l"/>
            <a:r>
              <a:rPr sz="1250" b="0" i="0">
                <a:solidFill>
                  <a:srgbClr val="F3EEE3"/>
                </a:solidFill>
                <a:latin typeface="Calibri"/>
              </a:rPr>
              <a:t>Se conserva el diseño; se agregan presentaciones/porciones más pequeñas y accesibles. Nombre y marca sin cambios.</a:t>
            </a:r>
          </a:p>
        </p:txBody>
      </p:sp>
      <p:sp>
        <p:nvSpPr>
          <p:cNvPr id="10" name="Rectangle 9"/>
          <p:cNvSpPr/>
          <p:nvPr/>
        </p:nvSpPr>
        <p:spPr>
          <a:xfrm>
            <a:off x="6035040" y="1463040"/>
            <a:ext cx="5394960" cy="2103120"/>
          </a:xfrm>
          <a:prstGeom prst="rect">
            <a:avLst/>
          </a:prstGeom>
          <a:solidFill>
            <a:srgbClr val="2E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035040" y="1463040"/>
            <a:ext cx="64008" cy="2103120"/>
          </a:xfrm>
          <a:prstGeom prst="rect">
            <a:avLst/>
          </a:prstGeom>
          <a:solidFill>
            <a:srgbClr val="7A3B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63640" y="1572768"/>
            <a:ext cx="5029200" cy="365760"/>
          </a:xfrm>
          <a:prstGeom prst="rect">
            <a:avLst/>
          </a:prstGeom>
          <a:noFill/>
        </p:spPr>
        <p:txBody>
          <a:bodyPr wrap="square">
            <a:spAutoFit/>
          </a:bodyPr>
          <a:lstStyle/>
          <a:p>
            <a:pPr algn="l"/>
            <a:r>
              <a:rPr sz="1600" b="1" i="0">
                <a:solidFill>
                  <a:srgbClr val="7A3B5D"/>
                </a:solidFill>
                <a:latin typeface="Calibri"/>
              </a:rPr>
              <a:t>Precio</a:t>
            </a:r>
          </a:p>
        </p:txBody>
      </p:sp>
      <p:sp>
        <p:nvSpPr>
          <p:cNvPr id="13" name="TextBox 12"/>
          <p:cNvSpPr txBox="1"/>
          <p:nvPr/>
        </p:nvSpPr>
        <p:spPr>
          <a:xfrm>
            <a:off x="6263640" y="1965960"/>
            <a:ext cx="4983480" cy="1463040"/>
          </a:xfrm>
          <a:prstGeom prst="rect">
            <a:avLst/>
          </a:prstGeom>
          <a:noFill/>
        </p:spPr>
        <p:txBody>
          <a:bodyPr wrap="square">
            <a:spAutoFit/>
          </a:bodyPr>
          <a:lstStyle/>
          <a:p>
            <a:pPr algn="l"/>
            <a:r>
              <a:rPr sz="1250" b="0" i="0">
                <a:solidFill>
                  <a:srgbClr val="F3EEE3"/>
                </a:solidFill>
                <a:latin typeface="Calibri"/>
              </a:rPr>
              <a:t>Ajuste al poder adquisitivo local, sin sacrificar el posicionamiento premium.</a:t>
            </a:r>
          </a:p>
        </p:txBody>
      </p:sp>
      <p:sp>
        <p:nvSpPr>
          <p:cNvPr id="14" name="Rectangle 13"/>
          <p:cNvSpPr/>
          <p:nvPr/>
        </p:nvSpPr>
        <p:spPr>
          <a:xfrm>
            <a:off x="594360" y="3794760"/>
            <a:ext cx="5212080" cy="2331720"/>
          </a:xfrm>
          <a:prstGeom prst="rect">
            <a:avLst/>
          </a:prstGeom>
          <a:solidFill>
            <a:srgbClr val="2E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4360" y="3794760"/>
            <a:ext cx="64008" cy="2331720"/>
          </a:xfrm>
          <a:prstGeom prst="rect">
            <a:avLst/>
          </a:prstGeom>
          <a:solidFill>
            <a:srgbClr val="7A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904488"/>
            <a:ext cx="4846320" cy="365760"/>
          </a:xfrm>
          <a:prstGeom prst="rect">
            <a:avLst/>
          </a:prstGeom>
          <a:noFill/>
        </p:spPr>
        <p:txBody>
          <a:bodyPr wrap="square">
            <a:spAutoFit/>
          </a:bodyPr>
          <a:lstStyle/>
          <a:p>
            <a:pPr algn="l"/>
            <a:r>
              <a:rPr sz="1600" b="1" i="0">
                <a:solidFill>
                  <a:srgbClr val="7A9A5B"/>
                </a:solidFill>
                <a:latin typeface="Calibri"/>
              </a:rPr>
              <a:t>Plaza</a:t>
            </a:r>
          </a:p>
        </p:txBody>
      </p:sp>
      <p:sp>
        <p:nvSpPr>
          <p:cNvPr id="17" name="TextBox 16"/>
          <p:cNvSpPr txBox="1"/>
          <p:nvPr/>
        </p:nvSpPr>
        <p:spPr>
          <a:xfrm>
            <a:off x="822960" y="4297680"/>
            <a:ext cx="4800600" cy="1691640"/>
          </a:xfrm>
          <a:prstGeom prst="rect">
            <a:avLst/>
          </a:prstGeom>
          <a:noFill/>
        </p:spPr>
        <p:txBody>
          <a:bodyPr wrap="square">
            <a:spAutoFit/>
          </a:bodyPr>
          <a:lstStyle/>
          <a:p>
            <a:pPr algn="l"/>
            <a:r>
              <a:rPr sz="1250" b="0" i="0">
                <a:solidFill>
                  <a:srgbClr val="F3EEE3"/>
                </a:solidFill>
                <a:latin typeface="Calibri"/>
              </a:rPr>
              <a:t>Distribuidor local con relación en supermercados de Ciudad de Guatemala (ej. La Torre); entrada gradual antes de escalar.</a:t>
            </a:r>
          </a:p>
        </p:txBody>
      </p:sp>
      <p:sp>
        <p:nvSpPr>
          <p:cNvPr id="18" name="Rectangle 17"/>
          <p:cNvSpPr/>
          <p:nvPr/>
        </p:nvSpPr>
        <p:spPr>
          <a:xfrm>
            <a:off x="6035040" y="3794760"/>
            <a:ext cx="5394960" cy="2331720"/>
          </a:xfrm>
          <a:prstGeom prst="rect">
            <a:avLst/>
          </a:prstGeom>
          <a:solidFill>
            <a:srgbClr val="2E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035040" y="3794760"/>
            <a:ext cx="64008" cy="2331720"/>
          </a:xfrm>
          <a:prstGeom prst="rect">
            <a:avLst/>
          </a:prstGeom>
          <a:solidFill>
            <a:srgbClr val="D9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63640" y="3904488"/>
            <a:ext cx="5029200" cy="365760"/>
          </a:xfrm>
          <a:prstGeom prst="rect">
            <a:avLst/>
          </a:prstGeom>
          <a:noFill/>
        </p:spPr>
        <p:txBody>
          <a:bodyPr wrap="square">
            <a:spAutoFit/>
          </a:bodyPr>
          <a:lstStyle/>
          <a:p>
            <a:pPr algn="l"/>
            <a:r>
              <a:rPr sz="1600" b="1" i="0">
                <a:solidFill>
                  <a:srgbClr val="D97A3F"/>
                </a:solidFill>
                <a:latin typeface="Calibri"/>
              </a:rPr>
              <a:t>Promoción</a:t>
            </a:r>
          </a:p>
        </p:txBody>
      </p:sp>
      <p:sp>
        <p:nvSpPr>
          <p:cNvPr id="21" name="TextBox 20"/>
          <p:cNvSpPr txBox="1"/>
          <p:nvPr/>
        </p:nvSpPr>
        <p:spPr>
          <a:xfrm>
            <a:off x="6263640" y="4297680"/>
            <a:ext cx="4983480" cy="1691640"/>
          </a:xfrm>
          <a:prstGeom prst="rect">
            <a:avLst/>
          </a:prstGeom>
          <a:noFill/>
        </p:spPr>
        <p:txBody>
          <a:bodyPr wrap="square">
            <a:spAutoFit/>
          </a:bodyPr>
          <a:lstStyle/>
          <a:p>
            <a:pPr algn="l"/>
            <a:r>
              <a:rPr sz="1250" b="0" i="0">
                <a:solidFill>
                  <a:srgbClr val="F3EEE3"/>
                </a:solidFill>
                <a:latin typeface="Calibri"/>
              </a:rPr>
              <a:t>Marketing digital (Instagram/TikTok) + degustaciones en punto de venta para generar prueba de producto.</a:t>
            </a:r>
          </a:p>
        </p:txBody>
      </p:sp>
      <p:sp>
        <p:nvSpPr>
          <p:cNvPr id="22" name="TextBox 21"/>
          <p:cNvSpPr txBox="1"/>
          <p:nvPr/>
        </p:nvSpPr>
        <p:spPr>
          <a:xfrm>
            <a:off x="365760" y="6446520"/>
            <a:ext cx="6400800" cy="320040"/>
          </a:xfrm>
          <a:prstGeom prst="rect">
            <a:avLst/>
          </a:prstGeom>
          <a:noFill/>
        </p:spPr>
        <p:txBody>
          <a:bodyPr wrap="square">
            <a:spAutoFit/>
          </a:bodyPr>
          <a:lstStyle/>
          <a:p>
            <a:pPr algn="l"/>
            <a:r>
              <a:rPr sz="1000" b="0" i="0">
                <a:solidFill>
                  <a:srgbClr val="2E2E2E"/>
                </a:solidFill>
                <a:latin typeface="Calibri"/>
              </a:rPr>
              <a:t>CRUJISANAS  |  Mercadotecnia Internacional</a:t>
            </a:r>
          </a:p>
        </p:txBody>
      </p:sp>
      <p:sp>
        <p:nvSpPr>
          <p:cNvPr id="23" name="TextBox 22"/>
          <p:cNvSpPr txBox="1"/>
          <p:nvPr/>
        </p:nvSpPr>
        <p:spPr>
          <a:xfrm>
            <a:off x="11430000" y="6446520"/>
            <a:ext cx="457200" cy="320040"/>
          </a:xfrm>
          <a:prstGeom prst="rect">
            <a:avLst/>
          </a:prstGeom>
          <a:noFill/>
        </p:spPr>
        <p:txBody>
          <a:bodyPr wrap="square">
            <a:spAutoFit/>
          </a:bodyPr>
          <a:lstStyle/>
          <a:p>
            <a:pPr algn="r"/>
            <a:r>
              <a:rPr sz="1000" b="0" i="0">
                <a:solidFill>
                  <a:srgbClr val="2E2E2E"/>
                </a:solidFill>
                <a:latin typeface="Calibri"/>
              </a:rPr>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81818"/>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7A3B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515600" y="109728"/>
            <a:ext cx="1463040" cy="914400"/>
          </a:xfrm>
          <a:prstGeom prst="rect">
            <a:avLst/>
          </a:prstGeom>
          <a:noFill/>
        </p:spPr>
        <p:txBody>
          <a:bodyPr wrap="square">
            <a:spAutoFit/>
          </a:bodyPr>
          <a:lstStyle/>
          <a:p>
            <a:pPr algn="r"/>
            <a:r>
              <a:rPr sz="4800" b="1" i="0">
                <a:solidFill>
                  <a:srgbClr val="2E2E2E"/>
                </a:solidFill>
                <a:latin typeface="Calibri"/>
              </a:rPr>
              <a:t>07</a:t>
            </a:r>
          </a:p>
        </p:txBody>
      </p:sp>
      <p:sp>
        <p:nvSpPr>
          <p:cNvPr id="4" name="TextBox 3"/>
          <p:cNvSpPr txBox="1"/>
          <p:nvPr/>
        </p:nvSpPr>
        <p:spPr>
          <a:xfrm>
            <a:off x="548640" y="320040"/>
            <a:ext cx="9601200" cy="822960"/>
          </a:xfrm>
          <a:prstGeom prst="rect">
            <a:avLst/>
          </a:prstGeom>
          <a:noFill/>
        </p:spPr>
        <p:txBody>
          <a:bodyPr wrap="square">
            <a:spAutoFit/>
          </a:bodyPr>
          <a:lstStyle/>
          <a:p>
            <a:pPr algn="l"/>
            <a:r>
              <a:rPr sz="3000" b="1" i="0">
                <a:solidFill>
                  <a:srgbClr val="F3EEE3"/>
                </a:solidFill>
                <a:latin typeface="Calibri"/>
              </a:rPr>
              <a:t>Principales retos</a:t>
            </a:r>
          </a:p>
        </p:txBody>
      </p:sp>
      <p:sp>
        <p:nvSpPr>
          <p:cNvPr id="5" name="Rectangle 4"/>
          <p:cNvSpPr/>
          <p:nvPr/>
        </p:nvSpPr>
        <p:spPr>
          <a:xfrm>
            <a:off x="594360" y="960120"/>
            <a:ext cx="1005840" cy="50800"/>
          </a:xfrm>
          <a:prstGeom prst="rect">
            <a:avLst/>
          </a:prstGeom>
          <a:solidFill>
            <a:srgbClr val="7A3B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865312" y="448097"/>
            <a:ext cx="5793914" cy="6595883"/>
          </a:xfrm>
          <a:prstGeom prst="rect">
            <a:avLst/>
          </a:prstGeom>
          <a:noFill/>
        </p:spPr>
        <p:txBody>
          <a:bodyPr wrap="square">
            <a:spAutoFit/>
          </a:bodyPr>
          <a:lstStyle/>
          <a:p>
            <a:pPr>
              <a:lnSpc>
                <a:spcPct val="115000"/>
              </a:lnSpc>
              <a:spcAft>
                <a:spcPts val="1200"/>
              </a:spcAft>
            </a:pPr>
            <a:r>
              <a:rPr sz="2000" b="1" dirty="0">
                <a:solidFill>
                  <a:srgbClr val="D97A3F"/>
                </a:solidFill>
                <a:latin typeface="Calibri"/>
              </a:rPr>
              <a:t>●  </a:t>
            </a:r>
            <a:r>
              <a:rPr sz="2000" b="1" dirty="0" err="1">
                <a:solidFill>
                  <a:srgbClr val="D97A3F"/>
                </a:solidFill>
                <a:latin typeface="Calibri"/>
              </a:rPr>
              <a:t>Competencia</a:t>
            </a:r>
            <a:r>
              <a:rPr sz="2000" b="1" dirty="0">
                <a:solidFill>
                  <a:srgbClr val="D97A3F"/>
                </a:solidFill>
                <a:latin typeface="Calibri"/>
              </a:rPr>
              <a:t> </a:t>
            </a:r>
            <a:r>
              <a:rPr sz="2000" b="1" dirty="0" err="1">
                <a:solidFill>
                  <a:srgbClr val="D97A3F"/>
                </a:solidFill>
                <a:latin typeface="Calibri"/>
              </a:rPr>
              <a:t>consolidada</a:t>
            </a:r>
            <a:r>
              <a:rPr sz="2000" b="1" dirty="0">
                <a:solidFill>
                  <a:srgbClr val="D97A3F"/>
                </a:solidFill>
                <a:latin typeface="Calibri"/>
              </a:rPr>
              <a:t> — </a:t>
            </a:r>
            <a:r>
              <a:rPr sz="2000" dirty="0" err="1">
                <a:solidFill>
                  <a:srgbClr val="F3EEE3"/>
                </a:solidFill>
                <a:latin typeface="Calibri"/>
              </a:rPr>
              <a:t>Sabritas</a:t>
            </a:r>
            <a:r>
              <a:rPr sz="2000" dirty="0">
                <a:solidFill>
                  <a:srgbClr val="F3EEE3"/>
                </a:solidFill>
                <a:latin typeface="Calibri"/>
              </a:rPr>
              <a:t> y </a:t>
            </a:r>
            <a:r>
              <a:rPr sz="2000" dirty="0" err="1">
                <a:solidFill>
                  <a:srgbClr val="F3EEE3"/>
                </a:solidFill>
                <a:latin typeface="Calibri"/>
              </a:rPr>
              <a:t>Barcel</a:t>
            </a:r>
            <a:r>
              <a:rPr sz="2000" dirty="0">
                <a:solidFill>
                  <a:srgbClr val="F3EEE3"/>
                </a:solidFill>
                <a:latin typeface="Calibri"/>
              </a:rPr>
              <a:t> </a:t>
            </a:r>
            <a:r>
              <a:rPr sz="2000" dirty="0" err="1">
                <a:solidFill>
                  <a:srgbClr val="F3EEE3"/>
                </a:solidFill>
                <a:latin typeface="Calibri"/>
              </a:rPr>
              <a:t>tienen</a:t>
            </a:r>
            <a:r>
              <a:rPr sz="2000" dirty="0">
                <a:solidFill>
                  <a:srgbClr val="F3EEE3"/>
                </a:solidFill>
                <a:latin typeface="Calibri"/>
              </a:rPr>
              <a:t> </a:t>
            </a:r>
            <a:r>
              <a:rPr sz="2000" dirty="0" err="1">
                <a:solidFill>
                  <a:srgbClr val="F3EEE3"/>
                </a:solidFill>
                <a:latin typeface="Calibri"/>
              </a:rPr>
              <a:t>enorme</a:t>
            </a:r>
            <a:r>
              <a:rPr sz="2000" dirty="0">
                <a:solidFill>
                  <a:srgbClr val="F3EEE3"/>
                </a:solidFill>
                <a:latin typeface="Calibri"/>
              </a:rPr>
              <a:t> </a:t>
            </a:r>
            <a:r>
              <a:rPr sz="2000" dirty="0" err="1">
                <a:solidFill>
                  <a:srgbClr val="F3EEE3"/>
                </a:solidFill>
                <a:latin typeface="Calibri"/>
              </a:rPr>
              <a:t>poder</a:t>
            </a:r>
            <a:r>
              <a:rPr sz="2000" dirty="0">
                <a:solidFill>
                  <a:srgbClr val="F3EEE3"/>
                </a:solidFill>
                <a:latin typeface="Calibri"/>
              </a:rPr>
              <a:t> de </a:t>
            </a:r>
            <a:r>
              <a:rPr sz="2000" dirty="0" err="1">
                <a:solidFill>
                  <a:srgbClr val="F3EEE3"/>
                </a:solidFill>
                <a:latin typeface="Calibri"/>
              </a:rPr>
              <a:t>distribución</a:t>
            </a:r>
            <a:r>
              <a:rPr sz="2000" dirty="0">
                <a:solidFill>
                  <a:srgbClr val="F3EEE3"/>
                </a:solidFill>
                <a:latin typeface="Calibri"/>
              </a:rPr>
              <a:t> y </a:t>
            </a:r>
            <a:r>
              <a:rPr sz="2000" dirty="0" err="1">
                <a:solidFill>
                  <a:srgbClr val="F3EEE3"/>
                </a:solidFill>
                <a:latin typeface="Calibri"/>
              </a:rPr>
              <a:t>economías</a:t>
            </a:r>
            <a:r>
              <a:rPr sz="2000" dirty="0">
                <a:solidFill>
                  <a:srgbClr val="F3EEE3"/>
                </a:solidFill>
                <a:latin typeface="Calibri"/>
              </a:rPr>
              <a:t> de </a:t>
            </a:r>
            <a:r>
              <a:rPr sz="2000" dirty="0" err="1">
                <a:solidFill>
                  <a:srgbClr val="F3EEE3"/>
                </a:solidFill>
                <a:latin typeface="Calibri"/>
              </a:rPr>
              <a:t>escala</a:t>
            </a:r>
            <a:r>
              <a:rPr sz="2000" dirty="0">
                <a:solidFill>
                  <a:srgbClr val="F3EEE3"/>
                </a:solidFill>
                <a:latin typeface="Calibri"/>
              </a:rPr>
              <a:t>.</a:t>
            </a:r>
          </a:p>
          <a:p>
            <a:pPr>
              <a:lnSpc>
                <a:spcPct val="115000"/>
              </a:lnSpc>
              <a:spcAft>
                <a:spcPts val="1200"/>
              </a:spcAft>
            </a:pPr>
            <a:r>
              <a:rPr sz="2000" b="1" dirty="0">
                <a:solidFill>
                  <a:srgbClr val="D97A3F"/>
                </a:solidFill>
                <a:latin typeface="Calibri"/>
              </a:rPr>
              <a:t>●  </a:t>
            </a:r>
            <a:r>
              <a:rPr sz="2000" b="1" dirty="0" err="1">
                <a:solidFill>
                  <a:srgbClr val="D97A3F"/>
                </a:solidFill>
                <a:latin typeface="Calibri"/>
              </a:rPr>
              <a:t>Desigualdad</a:t>
            </a:r>
            <a:r>
              <a:rPr sz="2000" b="1" dirty="0">
                <a:solidFill>
                  <a:srgbClr val="D97A3F"/>
                </a:solidFill>
                <a:latin typeface="Calibri"/>
              </a:rPr>
              <a:t> </a:t>
            </a:r>
            <a:r>
              <a:rPr sz="2000" b="1" dirty="0" err="1">
                <a:solidFill>
                  <a:srgbClr val="D97A3F"/>
                </a:solidFill>
                <a:latin typeface="Calibri"/>
              </a:rPr>
              <a:t>económica</a:t>
            </a:r>
            <a:r>
              <a:rPr sz="2000" b="1" dirty="0">
                <a:solidFill>
                  <a:srgbClr val="D97A3F"/>
                </a:solidFill>
                <a:latin typeface="Calibri"/>
              </a:rPr>
              <a:t> — </a:t>
            </a:r>
            <a:r>
              <a:rPr sz="2000" dirty="0" err="1">
                <a:solidFill>
                  <a:srgbClr val="F3EEE3"/>
                </a:solidFill>
                <a:latin typeface="Calibri"/>
              </a:rPr>
              <a:t>el</a:t>
            </a:r>
            <a:r>
              <a:rPr sz="2000" dirty="0">
                <a:solidFill>
                  <a:srgbClr val="F3EEE3"/>
                </a:solidFill>
                <a:latin typeface="Calibri"/>
              </a:rPr>
              <a:t> mercado real </a:t>
            </a:r>
            <a:r>
              <a:rPr sz="2000" dirty="0" err="1">
                <a:solidFill>
                  <a:srgbClr val="F3EEE3"/>
                </a:solidFill>
                <a:latin typeface="Calibri"/>
              </a:rPr>
              <a:t>accesible</a:t>
            </a:r>
            <a:r>
              <a:rPr sz="2000" dirty="0">
                <a:solidFill>
                  <a:srgbClr val="F3EEE3"/>
                </a:solidFill>
                <a:latin typeface="Calibri"/>
              </a:rPr>
              <a:t> para un </a:t>
            </a:r>
            <a:r>
              <a:rPr sz="2000" dirty="0" err="1">
                <a:solidFill>
                  <a:srgbClr val="F3EEE3"/>
                </a:solidFill>
                <a:latin typeface="Calibri"/>
              </a:rPr>
              <a:t>producto</a:t>
            </a:r>
            <a:r>
              <a:rPr sz="2000" dirty="0">
                <a:solidFill>
                  <a:srgbClr val="F3EEE3"/>
                </a:solidFill>
                <a:latin typeface="Calibri"/>
              </a:rPr>
              <a:t> premium es </a:t>
            </a:r>
            <a:r>
              <a:rPr sz="2000" dirty="0" err="1">
                <a:solidFill>
                  <a:srgbClr val="F3EEE3"/>
                </a:solidFill>
                <a:latin typeface="Calibri"/>
              </a:rPr>
              <a:t>más</a:t>
            </a:r>
            <a:r>
              <a:rPr sz="2000" dirty="0">
                <a:solidFill>
                  <a:srgbClr val="F3EEE3"/>
                </a:solidFill>
                <a:latin typeface="Calibri"/>
              </a:rPr>
              <a:t> </a:t>
            </a:r>
            <a:r>
              <a:rPr sz="2000" dirty="0" err="1">
                <a:solidFill>
                  <a:srgbClr val="F3EEE3"/>
                </a:solidFill>
                <a:latin typeface="Calibri"/>
              </a:rPr>
              <a:t>reducido</a:t>
            </a:r>
            <a:r>
              <a:rPr sz="2000" dirty="0">
                <a:solidFill>
                  <a:srgbClr val="F3EEE3"/>
                </a:solidFill>
                <a:latin typeface="Calibri"/>
              </a:rPr>
              <a:t> que la población total del </a:t>
            </a:r>
            <a:r>
              <a:rPr sz="2000" dirty="0" err="1">
                <a:solidFill>
                  <a:srgbClr val="F3EEE3"/>
                </a:solidFill>
                <a:latin typeface="Calibri"/>
              </a:rPr>
              <a:t>país</a:t>
            </a:r>
            <a:r>
              <a:rPr sz="2000" dirty="0">
                <a:solidFill>
                  <a:srgbClr val="F3EEE3"/>
                </a:solidFill>
                <a:latin typeface="Calibri"/>
              </a:rPr>
              <a:t>.</a:t>
            </a:r>
          </a:p>
          <a:p>
            <a:pPr>
              <a:lnSpc>
                <a:spcPct val="115000"/>
              </a:lnSpc>
              <a:spcAft>
                <a:spcPts val="1200"/>
              </a:spcAft>
            </a:pPr>
            <a:r>
              <a:rPr sz="2000" b="1" dirty="0">
                <a:solidFill>
                  <a:srgbClr val="D97A3F"/>
                </a:solidFill>
                <a:latin typeface="Calibri"/>
              </a:rPr>
              <a:t>●  </a:t>
            </a:r>
            <a:r>
              <a:rPr sz="2000" b="1" dirty="0" err="1">
                <a:solidFill>
                  <a:srgbClr val="D97A3F"/>
                </a:solidFill>
                <a:latin typeface="Calibri"/>
              </a:rPr>
              <a:t>Incertidumbre</a:t>
            </a:r>
            <a:r>
              <a:rPr sz="2000" b="1" dirty="0">
                <a:solidFill>
                  <a:srgbClr val="D97A3F"/>
                </a:solidFill>
                <a:latin typeface="Calibri"/>
              </a:rPr>
              <a:t> </a:t>
            </a:r>
            <a:r>
              <a:rPr sz="2000" b="1" dirty="0" err="1">
                <a:solidFill>
                  <a:srgbClr val="D97A3F"/>
                </a:solidFill>
                <a:latin typeface="Calibri"/>
              </a:rPr>
              <a:t>macroeconómica</a:t>
            </a:r>
            <a:r>
              <a:rPr sz="2000" b="1" dirty="0">
                <a:solidFill>
                  <a:srgbClr val="D97A3F"/>
                </a:solidFill>
                <a:latin typeface="Calibri"/>
              </a:rPr>
              <a:t> 2026 — </a:t>
            </a:r>
            <a:r>
              <a:rPr sz="2000" dirty="0">
                <a:solidFill>
                  <a:srgbClr val="F3EEE3"/>
                </a:solidFill>
                <a:latin typeface="Calibri"/>
              </a:rPr>
              <a:t>la </a:t>
            </a:r>
            <a:r>
              <a:rPr sz="2000" dirty="0" err="1">
                <a:solidFill>
                  <a:srgbClr val="F3EEE3"/>
                </a:solidFill>
                <a:latin typeface="Calibri"/>
              </a:rPr>
              <a:t>volatilidad</a:t>
            </a:r>
            <a:r>
              <a:rPr sz="2000" dirty="0">
                <a:solidFill>
                  <a:srgbClr val="F3EEE3"/>
                </a:solidFill>
                <a:latin typeface="Calibri"/>
              </a:rPr>
              <a:t> </a:t>
            </a:r>
            <a:r>
              <a:rPr sz="2000" dirty="0" err="1">
                <a:solidFill>
                  <a:srgbClr val="F3EEE3"/>
                </a:solidFill>
                <a:latin typeface="Calibri"/>
              </a:rPr>
              <a:t>cambiaria</a:t>
            </a:r>
            <a:r>
              <a:rPr sz="2000" dirty="0">
                <a:solidFill>
                  <a:srgbClr val="F3EEE3"/>
                </a:solidFill>
                <a:latin typeface="Calibri"/>
              </a:rPr>
              <a:t> y la </a:t>
            </a:r>
            <a:r>
              <a:rPr sz="2000" dirty="0" err="1">
                <a:solidFill>
                  <a:srgbClr val="F3EEE3"/>
                </a:solidFill>
                <a:latin typeface="Calibri"/>
              </a:rPr>
              <a:t>inflación</a:t>
            </a:r>
            <a:r>
              <a:rPr sz="2000" dirty="0">
                <a:solidFill>
                  <a:srgbClr val="F3EEE3"/>
                </a:solidFill>
                <a:latin typeface="Calibri"/>
              </a:rPr>
              <a:t> global </a:t>
            </a:r>
            <a:r>
              <a:rPr sz="2000" dirty="0" err="1">
                <a:solidFill>
                  <a:srgbClr val="F3EEE3"/>
                </a:solidFill>
                <a:latin typeface="Calibri"/>
              </a:rPr>
              <a:t>obligan</a:t>
            </a:r>
            <a:r>
              <a:rPr sz="2000" dirty="0">
                <a:solidFill>
                  <a:srgbClr val="F3EEE3"/>
                </a:solidFill>
                <a:latin typeface="Calibri"/>
              </a:rPr>
              <a:t> a </a:t>
            </a:r>
            <a:r>
              <a:rPr sz="2000" dirty="0" err="1">
                <a:solidFill>
                  <a:srgbClr val="F3EEE3"/>
                </a:solidFill>
                <a:latin typeface="Calibri"/>
              </a:rPr>
              <a:t>revisar</a:t>
            </a:r>
            <a:r>
              <a:rPr sz="2000" dirty="0">
                <a:solidFill>
                  <a:srgbClr val="F3EEE3"/>
                </a:solidFill>
                <a:latin typeface="Calibri"/>
              </a:rPr>
              <a:t> </a:t>
            </a:r>
            <a:r>
              <a:rPr sz="2000" dirty="0" err="1">
                <a:solidFill>
                  <a:srgbClr val="F3EEE3"/>
                </a:solidFill>
                <a:latin typeface="Calibri"/>
              </a:rPr>
              <a:t>precios</a:t>
            </a:r>
            <a:r>
              <a:rPr sz="2000" dirty="0">
                <a:solidFill>
                  <a:srgbClr val="F3EEE3"/>
                </a:solidFill>
                <a:latin typeface="Calibri"/>
              </a:rPr>
              <a:t> </a:t>
            </a:r>
            <a:r>
              <a:rPr sz="2000" dirty="0" err="1">
                <a:solidFill>
                  <a:srgbClr val="F3EEE3"/>
                </a:solidFill>
                <a:latin typeface="Calibri"/>
              </a:rPr>
              <a:t>periódicamente</a:t>
            </a:r>
            <a:r>
              <a:rPr sz="2000" dirty="0">
                <a:solidFill>
                  <a:srgbClr val="F3EEE3"/>
                </a:solidFill>
                <a:latin typeface="Calibri"/>
              </a:rPr>
              <a:t>.</a:t>
            </a:r>
          </a:p>
          <a:p>
            <a:pPr>
              <a:lnSpc>
                <a:spcPct val="115000"/>
              </a:lnSpc>
              <a:spcAft>
                <a:spcPts val="1200"/>
              </a:spcAft>
            </a:pPr>
            <a:r>
              <a:rPr sz="2000" b="1" dirty="0">
                <a:solidFill>
                  <a:srgbClr val="D97A3F"/>
                </a:solidFill>
                <a:latin typeface="Calibri"/>
              </a:rPr>
              <a:t>●  </a:t>
            </a:r>
            <a:r>
              <a:rPr sz="2000" b="1" dirty="0" err="1">
                <a:solidFill>
                  <a:srgbClr val="D97A3F"/>
                </a:solidFill>
                <a:latin typeface="Calibri"/>
              </a:rPr>
              <a:t>Cumplimiento</a:t>
            </a:r>
            <a:r>
              <a:rPr sz="2000" b="1" dirty="0">
                <a:solidFill>
                  <a:srgbClr val="D97A3F"/>
                </a:solidFill>
                <a:latin typeface="Calibri"/>
              </a:rPr>
              <a:t> </a:t>
            </a:r>
            <a:r>
              <a:rPr sz="2000" b="1" dirty="0" err="1">
                <a:solidFill>
                  <a:srgbClr val="D97A3F"/>
                </a:solidFill>
                <a:latin typeface="Calibri"/>
              </a:rPr>
              <a:t>regulatorio</a:t>
            </a:r>
            <a:r>
              <a:rPr sz="2000" b="1" dirty="0">
                <a:solidFill>
                  <a:srgbClr val="D97A3F"/>
                </a:solidFill>
                <a:latin typeface="Calibri"/>
              </a:rPr>
              <a:t> — </a:t>
            </a:r>
            <a:r>
              <a:rPr sz="2000" dirty="0" err="1">
                <a:solidFill>
                  <a:srgbClr val="F3EEE3"/>
                </a:solidFill>
                <a:latin typeface="Calibri"/>
              </a:rPr>
              <a:t>posible</a:t>
            </a:r>
            <a:r>
              <a:rPr sz="2000" dirty="0">
                <a:solidFill>
                  <a:srgbClr val="F3EEE3"/>
                </a:solidFill>
                <a:latin typeface="Calibri"/>
              </a:rPr>
              <a:t> entrada </a:t>
            </a:r>
            <a:r>
              <a:rPr sz="2000" dirty="0" err="1">
                <a:solidFill>
                  <a:srgbClr val="F3EEE3"/>
                </a:solidFill>
                <a:latin typeface="Calibri"/>
              </a:rPr>
              <a:t>en</a:t>
            </a:r>
            <a:r>
              <a:rPr sz="2000" dirty="0">
                <a:solidFill>
                  <a:srgbClr val="F3EEE3"/>
                </a:solidFill>
                <a:latin typeface="Calibri"/>
              </a:rPr>
              <a:t> vigor de un </a:t>
            </a:r>
            <a:r>
              <a:rPr sz="2000" dirty="0" err="1">
                <a:solidFill>
                  <a:srgbClr val="F3EEE3"/>
                </a:solidFill>
                <a:latin typeface="Calibri"/>
              </a:rPr>
              <a:t>etiquetado</a:t>
            </a:r>
            <a:r>
              <a:rPr sz="2000" dirty="0">
                <a:solidFill>
                  <a:srgbClr val="F3EEE3"/>
                </a:solidFill>
                <a:latin typeface="Calibri"/>
              </a:rPr>
              <a:t> frontal de </a:t>
            </a:r>
            <a:r>
              <a:rPr sz="2000" dirty="0" err="1">
                <a:solidFill>
                  <a:srgbClr val="F3EEE3"/>
                </a:solidFill>
                <a:latin typeface="Calibri"/>
              </a:rPr>
              <a:t>advertencia</a:t>
            </a:r>
            <a:r>
              <a:rPr sz="2000" dirty="0">
                <a:solidFill>
                  <a:srgbClr val="F3EEE3"/>
                </a:solidFill>
                <a:latin typeface="Calibri"/>
              </a:rPr>
              <a:t> (</a:t>
            </a:r>
            <a:r>
              <a:rPr sz="2000" dirty="0" err="1">
                <a:solidFill>
                  <a:srgbClr val="F3EEE3"/>
                </a:solidFill>
                <a:latin typeface="Calibri"/>
              </a:rPr>
              <a:t>Iniciativa</a:t>
            </a:r>
            <a:r>
              <a:rPr sz="2000" dirty="0">
                <a:solidFill>
                  <a:srgbClr val="F3EEE3"/>
                </a:solidFill>
                <a:latin typeface="Calibri"/>
              </a:rPr>
              <a:t> 5504).</a:t>
            </a:r>
          </a:p>
          <a:p>
            <a:pPr>
              <a:lnSpc>
                <a:spcPct val="115000"/>
              </a:lnSpc>
              <a:spcAft>
                <a:spcPts val="1200"/>
              </a:spcAft>
            </a:pPr>
            <a:r>
              <a:rPr sz="2000" b="1" dirty="0">
                <a:solidFill>
                  <a:srgbClr val="D97A3F"/>
                </a:solidFill>
                <a:latin typeface="Calibri"/>
              </a:rPr>
              <a:t>●  </a:t>
            </a:r>
            <a:r>
              <a:rPr sz="2000" b="1" dirty="0" err="1">
                <a:solidFill>
                  <a:srgbClr val="D97A3F"/>
                </a:solidFill>
                <a:latin typeface="Calibri"/>
              </a:rPr>
              <a:t>Escalamiento</a:t>
            </a:r>
            <a:r>
              <a:rPr sz="2000" b="1" dirty="0">
                <a:solidFill>
                  <a:srgbClr val="D97A3F"/>
                </a:solidFill>
                <a:latin typeface="Calibri"/>
              </a:rPr>
              <a:t> de </a:t>
            </a:r>
            <a:r>
              <a:rPr sz="2000" b="1" dirty="0" err="1">
                <a:solidFill>
                  <a:srgbClr val="D97A3F"/>
                </a:solidFill>
                <a:latin typeface="Calibri"/>
              </a:rPr>
              <a:t>producción</a:t>
            </a:r>
            <a:r>
              <a:rPr sz="2000" b="1" dirty="0">
                <a:solidFill>
                  <a:srgbClr val="D97A3F"/>
                </a:solidFill>
                <a:latin typeface="Calibri"/>
              </a:rPr>
              <a:t> — </a:t>
            </a:r>
            <a:r>
              <a:rPr sz="2000" dirty="0">
                <a:solidFill>
                  <a:srgbClr val="F3EEE3"/>
                </a:solidFill>
                <a:latin typeface="Calibri"/>
              </a:rPr>
              <a:t>de un </a:t>
            </a:r>
            <a:r>
              <a:rPr sz="2000" dirty="0" err="1">
                <a:solidFill>
                  <a:srgbClr val="F3EEE3"/>
                </a:solidFill>
                <a:latin typeface="Calibri"/>
              </a:rPr>
              <a:t>modelo</a:t>
            </a:r>
            <a:r>
              <a:rPr sz="2000" dirty="0">
                <a:solidFill>
                  <a:srgbClr val="F3EEE3"/>
                </a:solidFill>
                <a:latin typeface="Calibri"/>
              </a:rPr>
              <a:t> </a:t>
            </a:r>
            <a:r>
              <a:rPr sz="2000" dirty="0" err="1">
                <a:solidFill>
                  <a:srgbClr val="F3EEE3"/>
                </a:solidFill>
                <a:latin typeface="Calibri"/>
              </a:rPr>
              <a:t>artesanal</a:t>
            </a:r>
            <a:r>
              <a:rPr sz="2000" dirty="0">
                <a:solidFill>
                  <a:srgbClr val="F3EEE3"/>
                </a:solidFill>
                <a:latin typeface="Calibri"/>
              </a:rPr>
              <a:t> de </a:t>
            </a:r>
            <a:r>
              <a:rPr sz="2000" dirty="0" err="1">
                <a:solidFill>
                  <a:srgbClr val="F3EEE3"/>
                </a:solidFill>
                <a:latin typeface="Calibri"/>
              </a:rPr>
              <a:t>baja</a:t>
            </a:r>
            <a:r>
              <a:rPr sz="2000" dirty="0">
                <a:solidFill>
                  <a:srgbClr val="F3EEE3"/>
                </a:solidFill>
                <a:latin typeface="Calibri"/>
              </a:rPr>
              <a:t> </a:t>
            </a:r>
            <a:r>
              <a:rPr sz="2000" dirty="0" err="1">
                <a:solidFill>
                  <a:srgbClr val="F3EEE3"/>
                </a:solidFill>
                <a:latin typeface="Calibri"/>
              </a:rPr>
              <a:t>escala</a:t>
            </a:r>
            <a:r>
              <a:rPr sz="2000" dirty="0">
                <a:solidFill>
                  <a:srgbClr val="F3EEE3"/>
                </a:solidFill>
                <a:latin typeface="Calibri"/>
              </a:rPr>
              <a:t> </a:t>
            </a:r>
            <a:r>
              <a:rPr sz="2000" dirty="0" err="1">
                <a:solidFill>
                  <a:srgbClr val="F3EEE3"/>
                </a:solidFill>
                <a:latin typeface="Calibri"/>
              </a:rPr>
              <a:t>hacia</a:t>
            </a:r>
            <a:r>
              <a:rPr sz="2000" dirty="0">
                <a:solidFill>
                  <a:srgbClr val="F3EEE3"/>
                </a:solidFill>
                <a:latin typeface="Calibri"/>
              </a:rPr>
              <a:t> </a:t>
            </a:r>
            <a:r>
              <a:rPr sz="2000" dirty="0" err="1">
                <a:solidFill>
                  <a:srgbClr val="F3EEE3"/>
                </a:solidFill>
                <a:latin typeface="Calibri"/>
              </a:rPr>
              <a:t>volúmenes</a:t>
            </a:r>
            <a:r>
              <a:rPr sz="2000" dirty="0">
                <a:solidFill>
                  <a:srgbClr val="F3EEE3"/>
                </a:solidFill>
                <a:latin typeface="Calibri"/>
              </a:rPr>
              <a:t> de </a:t>
            </a:r>
            <a:r>
              <a:rPr sz="2000" dirty="0" err="1">
                <a:solidFill>
                  <a:srgbClr val="F3EEE3"/>
                </a:solidFill>
                <a:latin typeface="Calibri"/>
              </a:rPr>
              <a:t>exportación</a:t>
            </a:r>
            <a:r>
              <a:rPr sz="2000" dirty="0">
                <a:solidFill>
                  <a:srgbClr val="F3EEE3"/>
                </a:solidFill>
                <a:latin typeface="Calibri"/>
              </a:rPr>
              <a:t> </a:t>
            </a:r>
            <a:r>
              <a:rPr sz="2000" dirty="0" err="1">
                <a:solidFill>
                  <a:srgbClr val="F3EEE3"/>
                </a:solidFill>
                <a:latin typeface="Calibri"/>
              </a:rPr>
              <a:t>sostenidos</a:t>
            </a:r>
            <a:r>
              <a:rPr sz="2000" dirty="0">
                <a:solidFill>
                  <a:srgbClr val="F3EEE3"/>
                </a:solidFill>
                <a:latin typeface="Calibri"/>
              </a:rPr>
              <a:t>.</a:t>
            </a:r>
          </a:p>
        </p:txBody>
      </p:sp>
      <p:sp>
        <p:nvSpPr>
          <p:cNvPr id="7" name="TextBox 6"/>
          <p:cNvSpPr txBox="1"/>
          <p:nvPr/>
        </p:nvSpPr>
        <p:spPr>
          <a:xfrm>
            <a:off x="365760" y="6446520"/>
            <a:ext cx="6400800" cy="320040"/>
          </a:xfrm>
          <a:prstGeom prst="rect">
            <a:avLst/>
          </a:prstGeom>
          <a:noFill/>
        </p:spPr>
        <p:txBody>
          <a:bodyPr wrap="square">
            <a:spAutoFit/>
          </a:bodyPr>
          <a:lstStyle/>
          <a:p>
            <a:pPr algn="l"/>
            <a:r>
              <a:rPr sz="1000" b="0" i="0">
                <a:solidFill>
                  <a:srgbClr val="2E2E2E"/>
                </a:solidFill>
                <a:latin typeface="Calibri"/>
              </a:rPr>
              <a:t>CRUJISANAS  |  Mercadotecnia Internacional</a:t>
            </a:r>
          </a:p>
        </p:txBody>
      </p:sp>
      <p:sp>
        <p:nvSpPr>
          <p:cNvPr id="8" name="TextBox 7"/>
          <p:cNvSpPr txBox="1"/>
          <p:nvPr/>
        </p:nvSpPr>
        <p:spPr>
          <a:xfrm>
            <a:off x="11430000" y="6446520"/>
            <a:ext cx="457200" cy="320040"/>
          </a:xfrm>
          <a:prstGeom prst="rect">
            <a:avLst/>
          </a:prstGeom>
          <a:noFill/>
        </p:spPr>
        <p:txBody>
          <a:bodyPr wrap="square">
            <a:spAutoFit/>
          </a:bodyPr>
          <a:lstStyle/>
          <a:p>
            <a:pPr algn="r"/>
            <a:r>
              <a:rPr sz="1000" b="0" i="0">
                <a:solidFill>
                  <a:srgbClr val="2E2E2E"/>
                </a:solidFill>
                <a:latin typeface="Calibri"/>
              </a:rPr>
              <a:t>11</a:t>
            </a:r>
          </a:p>
        </p:txBody>
      </p:sp>
      <p:pic>
        <p:nvPicPr>
          <p:cNvPr id="11266" name="Picture 2" descr="Caja de Sabritas o barcel precio por mayoreo — Mexicansstuff">
            <a:extLst>
              <a:ext uri="{FF2B5EF4-FFF2-40B4-BE49-F238E27FC236}">
                <a16:creationId xmlns:a16="http://schemas.microsoft.com/office/drawing/2014/main" id="{A1D800E5-CD3E-4697-9C6E-9E34E891CE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1526" y="1730450"/>
            <a:ext cx="4086225" cy="4438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81818"/>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7A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515600" y="109728"/>
            <a:ext cx="1463040" cy="914400"/>
          </a:xfrm>
          <a:prstGeom prst="rect">
            <a:avLst/>
          </a:prstGeom>
          <a:noFill/>
        </p:spPr>
        <p:txBody>
          <a:bodyPr wrap="square">
            <a:spAutoFit/>
          </a:bodyPr>
          <a:lstStyle/>
          <a:p>
            <a:pPr algn="r"/>
            <a:r>
              <a:rPr sz="4800" b="1" i="0">
                <a:solidFill>
                  <a:srgbClr val="2E2E2E"/>
                </a:solidFill>
                <a:latin typeface="Calibri"/>
              </a:rPr>
              <a:t>07</a:t>
            </a:r>
          </a:p>
        </p:txBody>
      </p:sp>
      <p:sp>
        <p:nvSpPr>
          <p:cNvPr id="4" name="TextBox 3"/>
          <p:cNvSpPr txBox="1"/>
          <p:nvPr/>
        </p:nvSpPr>
        <p:spPr>
          <a:xfrm>
            <a:off x="548640" y="320040"/>
            <a:ext cx="9601200" cy="822960"/>
          </a:xfrm>
          <a:prstGeom prst="rect">
            <a:avLst/>
          </a:prstGeom>
          <a:noFill/>
        </p:spPr>
        <p:txBody>
          <a:bodyPr wrap="square">
            <a:spAutoFit/>
          </a:bodyPr>
          <a:lstStyle/>
          <a:p>
            <a:pPr algn="l"/>
            <a:r>
              <a:rPr sz="3000" b="1" i="0">
                <a:solidFill>
                  <a:srgbClr val="F3EEE3"/>
                </a:solidFill>
                <a:latin typeface="Calibri"/>
              </a:rPr>
              <a:t>Conclusiones</a:t>
            </a:r>
          </a:p>
        </p:txBody>
      </p:sp>
      <p:sp>
        <p:nvSpPr>
          <p:cNvPr id="5" name="Rectangle 4"/>
          <p:cNvSpPr/>
          <p:nvPr/>
        </p:nvSpPr>
        <p:spPr>
          <a:xfrm>
            <a:off x="594360" y="960120"/>
            <a:ext cx="1005840" cy="50800"/>
          </a:xfrm>
          <a:prstGeom prst="rect">
            <a:avLst/>
          </a:prstGeom>
          <a:solidFill>
            <a:srgbClr val="7A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19204" y="1312728"/>
            <a:ext cx="6172200" cy="5420651"/>
          </a:xfrm>
          <a:prstGeom prst="rect">
            <a:avLst/>
          </a:prstGeom>
          <a:noFill/>
        </p:spPr>
        <p:txBody>
          <a:bodyPr wrap="square">
            <a:spAutoFit/>
          </a:bodyPr>
          <a:lstStyle/>
          <a:p>
            <a:pPr>
              <a:lnSpc>
                <a:spcPct val="115000"/>
              </a:lnSpc>
              <a:spcAft>
                <a:spcPts val="1000"/>
              </a:spcAft>
            </a:pPr>
            <a:r>
              <a:rPr sz="2400" dirty="0">
                <a:solidFill>
                  <a:srgbClr val="F3EEE3"/>
                </a:solidFill>
                <a:latin typeface="Calibri"/>
              </a:rPr>
              <a:t>●  Un </a:t>
            </a:r>
            <a:r>
              <a:rPr sz="2400" dirty="0" err="1">
                <a:solidFill>
                  <a:srgbClr val="F3EEE3"/>
                </a:solidFill>
                <a:latin typeface="Calibri"/>
              </a:rPr>
              <a:t>producto</a:t>
            </a:r>
            <a:r>
              <a:rPr sz="2400" dirty="0">
                <a:solidFill>
                  <a:srgbClr val="F3EEE3"/>
                </a:solidFill>
                <a:latin typeface="Calibri"/>
              </a:rPr>
              <a:t> no </a:t>
            </a:r>
            <a:r>
              <a:rPr sz="2400" dirty="0" err="1">
                <a:solidFill>
                  <a:srgbClr val="F3EEE3"/>
                </a:solidFill>
                <a:latin typeface="Calibri"/>
              </a:rPr>
              <a:t>necesita</a:t>
            </a:r>
            <a:r>
              <a:rPr sz="2400" dirty="0">
                <a:solidFill>
                  <a:srgbClr val="F3EEE3"/>
                </a:solidFill>
                <a:latin typeface="Calibri"/>
              </a:rPr>
              <a:t> ser </a:t>
            </a:r>
            <a:r>
              <a:rPr sz="2400" dirty="0" err="1">
                <a:solidFill>
                  <a:srgbClr val="F3EEE3"/>
                </a:solidFill>
                <a:latin typeface="Calibri"/>
              </a:rPr>
              <a:t>fabricado</a:t>
            </a:r>
            <a:r>
              <a:rPr sz="2400" dirty="0">
                <a:solidFill>
                  <a:srgbClr val="F3EEE3"/>
                </a:solidFill>
                <a:latin typeface="Calibri"/>
              </a:rPr>
              <a:t> por una </a:t>
            </a:r>
            <a:r>
              <a:rPr sz="2400" dirty="0" err="1">
                <a:solidFill>
                  <a:srgbClr val="F3EEE3"/>
                </a:solidFill>
                <a:latin typeface="Calibri"/>
              </a:rPr>
              <a:t>multinacional</a:t>
            </a:r>
            <a:r>
              <a:rPr sz="2400" dirty="0">
                <a:solidFill>
                  <a:srgbClr val="F3EEE3"/>
                </a:solidFill>
                <a:latin typeface="Calibri"/>
              </a:rPr>
              <a:t> para </a:t>
            </a:r>
            <a:r>
              <a:rPr sz="2400" dirty="0" err="1">
                <a:solidFill>
                  <a:srgbClr val="F3EEE3"/>
                </a:solidFill>
                <a:latin typeface="Calibri"/>
              </a:rPr>
              <a:t>tener</a:t>
            </a:r>
            <a:r>
              <a:rPr sz="2400" dirty="0">
                <a:solidFill>
                  <a:srgbClr val="F3EEE3"/>
                </a:solidFill>
                <a:latin typeface="Calibri"/>
              </a:rPr>
              <a:t> </a:t>
            </a:r>
            <a:r>
              <a:rPr sz="2400" dirty="0" err="1">
                <a:solidFill>
                  <a:srgbClr val="F3EEE3"/>
                </a:solidFill>
                <a:latin typeface="Calibri"/>
              </a:rPr>
              <a:t>potencial</a:t>
            </a:r>
            <a:r>
              <a:rPr sz="2400" dirty="0">
                <a:solidFill>
                  <a:srgbClr val="F3EEE3"/>
                </a:solidFill>
                <a:latin typeface="Calibri"/>
              </a:rPr>
              <a:t> </a:t>
            </a:r>
            <a:r>
              <a:rPr sz="2400" dirty="0" err="1">
                <a:solidFill>
                  <a:srgbClr val="F3EEE3"/>
                </a:solidFill>
                <a:latin typeface="Calibri"/>
              </a:rPr>
              <a:t>exportador</a:t>
            </a:r>
            <a:r>
              <a:rPr sz="2400" dirty="0">
                <a:solidFill>
                  <a:srgbClr val="F3EEE3"/>
                </a:solidFill>
                <a:latin typeface="Calibri"/>
              </a:rPr>
              <a:t>: basta una </a:t>
            </a:r>
            <a:r>
              <a:rPr sz="2400" dirty="0" err="1">
                <a:solidFill>
                  <a:srgbClr val="F3EEE3"/>
                </a:solidFill>
                <a:latin typeface="Calibri"/>
              </a:rPr>
              <a:t>propuesta</a:t>
            </a:r>
            <a:r>
              <a:rPr sz="2400" dirty="0">
                <a:solidFill>
                  <a:srgbClr val="F3EEE3"/>
                </a:solidFill>
                <a:latin typeface="Calibri"/>
              </a:rPr>
              <a:t> de valor </a:t>
            </a:r>
            <a:r>
              <a:rPr sz="2400" dirty="0" err="1">
                <a:solidFill>
                  <a:srgbClr val="F3EEE3"/>
                </a:solidFill>
                <a:latin typeface="Calibri"/>
              </a:rPr>
              <a:t>clara</a:t>
            </a:r>
            <a:r>
              <a:rPr sz="2400" dirty="0">
                <a:solidFill>
                  <a:srgbClr val="F3EEE3"/>
                </a:solidFill>
                <a:latin typeface="Calibri"/>
              </a:rPr>
              <a:t> y un mercado que la </a:t>
            </a:r>
            <a:r>
              <a:rPr sz="2400" dirty="0" err="1">
                <a:solidFill>
                  <a:srgbClr val="F3EEE3"/>
                </a:solidFill>
                <a:latin typeface="Calibri"/>
              </a:rPr>
              <a:t>necesite</a:t>
            </a:r>
            <a:r>
              <a:rPr sz="2400" dirty="0">
                <a:solidFill>
                  <a:srgbClr val="F3EEE3"/>
                </a:solidFill>
                <a:latin typeface="Calibri"/>
              </a:rPr>
              <a:t>.</a:t>
            </a:r>
          </a:p>
          <a:p>
            <a:pPr>
              <a:lnSpc>
                <a:spcPct val="115000"/>
              </a:lnSpc>
              <a:spcAft>
                <a:spcPts val="1000"/>
              </a:spcAft>
            </a:pPr>
            <a:r>
              <a:rPr sz="2400" dirty="0">
                <a:solidFill>
                  <a:srgbClr val="F3EEE3"/>
                </a:solidFill>
                <a:latin typeface="Calibri"/>
              </a:rPr>
              <a:t>●  La </a:t>
            </a:r>
            <a:r>
              <a:rPr sz="2400" dirty="0" err="1">
                <a:solidFill>
                  <a:srgbClr val="F3EEE3"/>
                </a:solidFill>
                <a:latin typeface="Calibri"/>
              </a:rPr>
              <a:t>cercanía</a:t>
            </a:r>
            <a:r>
              <a:rPr sz="2400" dirty="0">
                <a:solidFill>
                  <a:srgbClr val="F3EEE3"/>
                </a:solidFill>
                <a:latin typeface="Calibri"/>
              </a:rPr>
              <a:t> </a:t>
            </a:r>
            <a:r>
              <a:rPr sz="2400" dirty="0" err="1">
                <a:solidFill>
                  <a:srgbClr val="F3EEE3"/>
                </a:solidFill>
                <a:latin typeface="Calibri"/>
              </a:rPr>
              <a:t>geográfica</a:t>
            </a:r>
            <a:r>
              <a:rPr sz="2400" dirty="0">
                <a:solidFill>
                  <a:srgbClr val="F3EEE3"/>
                </a:solidFill>
                <a:latin typeface="Calibri"/>
              </a:rPr>
              <a:t> y cultural </a:t>
            </a:r>
            <a:r>
              <a:rPr sz="2400" dirty="0" err="1">
                <a:solidFill>
                  <a:srgbClr val="F3EEE3"/>
                </a:solidFill>
                <a:latin typeface="Calibri"/>
              </a:rPr>
              <a:t>puede</a:t>
            </a:r>
            <a:r>
              <a:rPr sz="2400" dirty="0">
                <a:solidFill>
                  <a:srgbClr val="F3EEE3"/>
                </a:solidFill>
                <a:latin typeface="Calibri"/>
              </a:rPr>
              <a:t> </a:t>
            </a:r>
            <a:r>
              <a:rPr sz="2400" dirty="0" err="1">
                <a:solidFill>
                  <a:srgbClr val="F3EEE3"/>
                </a:solidFill>
                <a:latin typeface="Calibri"/>
              </a:rPr>
              <a:t>pesar</a:t>
            </a:r>
            <a:r>
              <a:rPr sz="2400" dirty="0">
                <a:solidFill>
                  <a:srgbClr val="F3EEE3"/>
                </a:solidFill>
                <a:latin typeface="Calibri"/>
              </a:rPr>
              <a:t> tanto </a:t>
            </a:r>
            <a:r>
              <a:rPr sz="2400" dirty="0" err="1">
                <a:solidFill>
                  <a:srgbClr val="F3EEE3"/>
                </a:solidFill>
                <a:latin typeface="Calibri"/>
              </a:rPr>
              <a:t>como</a:t>
            </a:r>
            <a:r>
              <a:rPr sz="2400" dirty="0">
                <a:solidFill>
                  <a:srgbClr val="F3EEE3"/>
                </a:solidFill>
                <a:latin typeface="Calibri"/>
              </a:rPr>
              <a:t> </a:t>
            </a:r>
            <a:r>
              <a:rPr sz="2400" dirty="0" err="1">
                <a:solidFill>
                  <a:srgbClr val="F3EEE3"/>
                </a:solidFill>
                <a:latin typeface="Calibri"/>
              </a:rPr>
              <a:t>el</a:t>
            </a:r>
            <a:r>
              <a:rPr sz="2400" dirty="0">
                <a:solidFill>
                  <a:srgbClr val="F3EEE3"/>
                </a:solidFill>
                <a:latin typeface="Calibri"/>
              </a:rPr>
              <a:t> </a:t>
            </a:r>
            <a:r>
              <a:rPr sz="2400" dirty="0" err="1">
                <a:solidFill>
                  <a:srgbClr val="F3EEE3"/>
                </a:solidFill>
                <a:latin typeface="Calibri"/>
              </a:rPr>
              <a:t>tamaño</a:t>
            </a:r>
            <a:r>
              <a:rPr sz="2400" dirty="0">
                <a:solidFill>
                  <a:srgbClr val="F3EEE3"/>
                </a:solidFill>
                <a:latin typeface="Calibri"/>
              </a:rPr>
              <a:t> del mercado, </a:t>
            </a:r>
            <a:r>
              <a:rPr sz="2400" dirty="0" err="1">
                <a:solidFill>
                  <a:srgbClr val="F3EEE3"/>
                </a:solidFill>
                <a:latin typeface="Calibri"/>
              </a:rPr>
              <a:t>sobre</a:t>
            </a:r>
            <a:r>
              <a:rPr sz="2400" dirty="0">
                <a:solidFill>
                  <a:srgbClr val="F3EEE3"/>
                </a:solidFill>
                <a:latin typeface="Calibri"/>
              </a:rPr>
              <a:t> </a:t>
            </a:r>
            <a:r>
              <a:rPr sz="2400" dirty="0" err="1">
                <a:solidFill>
                  <a:srgbClr val="F3EEE3"/>
                </a:solidFill>
                <a:latin typeface="Calibri"/>
              </a:rPr>
              <a:t>todo</a:t>
            </a:r>
            <a:r>
              <a:rPr sz="2400" dirty="0">
                <a:solidFill>
                  <a:srgbClr val="F3EEE3"/>
                </a:solidFill>
                <a:latin typeface="Calibri"/>
              </a:rPr>
              <a:t> </a:t>
            </a:r>
            <a:r>
              <a:rPr sz="2400" dirty="0" err="1">
                <a:solidFill>
                  <a:srgbClr val="F3EEE3"/>
                </a:solidFill>
                <a:latin typeface="Calibri"/>
              </a:rPr>
              <a:t>en</a:t>
            </a:r>
            <a:r>
              <a:rPr sz="2400" dirty="0">
                <a:solidFill>
                  <a:srgbClr val="F3EEE3"/>
                </a:solidFill>
                <a:latin typeface="Calibri"/>
              </a:rPr>
              <a:t> un </a:t>
            </a:r>
            <a:r>
              <a:rPr sz="2400" dirty="0" err="1">
                <a:solidFill>
                  <a:srgbClr val="F3EEE3"/>
                </a:solidFill>
                <a:latin typeface="Calibri"/>
              </a:rPr>
              <a:t>entorno</a:t>
            </a:r>
            <a:r>
              <a:rPr sz="2400" dirty="0">
                <a:solidFill>
                  <a:srgbClr val="F3EEE3"/>
                </a:solidFill>
                <a:latin typeface="Calibri"/>
              </a:rPr>
              <a:t> </a:t>
            </a:r>
            <a:r>
              <a:rPr sz="2400" dirty="0" err="1">
                <a:solidFill>
                  <a:srgbClr val="F3EEE3"/>
                </a:solidFill>
                <a:latin typeface="Calibri"/>
              </a:rPr>
              <a:t>incierto</a:t>
            </a:r>
            <a:r>
              <a:rPr sz="2400" dirty="0">
                <a:solidFill>
                  <a:srgbClr val="F3EEE3"/>
                </a:solidFill>
                <a:latin typeface="Calibri"/>
              </a:rPr>
              <a:t> </a:t>
            </a:r>
            <a:r>
              <a:rPr sz="2400" dirty="0" err="1">
                <a:solidFill>
                  <a:srgbClr val="F3EEE3"/>
                </a:solidFill>
                <a:latin typeface="Calibri"/>
              </a:rPr>
              <a:t>como</a:t>
            </a:r>
            <a:r>
              <a:rPr sz="2400" dirty="0">
                <a:solidFill>
                  <a:srgbClr val="F3EEE3"/>
                </a:solidFill>
                <a:latin typeface="Calibri"/>
              </a:rPr>
              <a:t> </a:t>
            </a:r>
            <a:r>
              <a:rPr sz="2400" dirty="0" err="1">
                <a:solidFill>
                  <a:srgbClr val="F3EEE3"/>
                </a:solidFill>
                <a:latin typeface="Calibri"/>
              </a:rPr>
              <a:t>el</a:t>
            </a:r>
            <a:r>
              <a:rPr sz="2400" dirty="0">
                <a:solidFill>
                  <a:srgbClr val="F3EEE3"/>
                </a:solidFill>
                <a:latin typeface="Calibri"/>
              </a:rPr>
              <a:t> de 2026.</a:t>
            </a:r>
          </a:p>
          <a:p>
            <a:pPr>
              <a:lnSpc>
                <a:spcPct val="115000"/>
              </a:lnSpc>
              <a:spcAft>
                <a:spcPts val="1000"/>
              </a:spcAft>
            </a:pPr>
            <a:r>
              <a:rPr sz="2400" dirty="0">
                <a:solidFill>
                  <a:srgbClr val="F3EEE3"/>
                </a:solidFill>
                <a:latin typeface="Calibri"/>
              </a:rPr>
              <a:t>●  La </a:t>
            </a:r>
            <a:r>
              <a:rPr sz="2400" dirty="0" err="1">
                <a:solidFill>
                  <a:srgbClr val="F3EEE3"/>
                </a:solidFill>
                <a:latin typeface="Calibri"/>
              </a:rPr>
              <a:t>expansión</a:t>
            </a:r>
            <a:r>
              <a:rPr sz="2400" dirty="0">
                <a:solidFill>
                  <a:srgbClr val="F3EEE3"/>
                </a:solidFill>
                <a:latin typeface="Calibri"/>
              </a:rPr>
              <a:t> </a:t>
            </a:r>
            <a:r>
              <a:rPr sz="2400" dirty="0" err="1">
                <a:solidFill>
                  <a:srgbClr val="F3EEE3"/>
                </a:solidFill>
                <a:latin typeface="Calibri"/>
              </a:rPr>
              <a:t>hacia</a:t>
            </a:r>
            <a:r>
              <a:rPr sz="2400" dirty="0">
                <a:solidFill>
                  <a:srgbClr val="F3EEE3"/>
                </a:solidFill>
                <a:latin typeface="Calibri"/>
              </a:rPr>
              <a:t> Guatemala se </a:t>
            </a:r>
            <a:r>
              <a:rPr sz="2400" dirty="0" err="1">
                <a:solidFill>
                  <a:srgbClr val="F3EEE3"/>
                </a:solidFill>
                <a:latin typeface="Calibri"/>
              </a:rPr>
              <a:t>considera</a:t>
            </a:r>
            <a:r>
              <a:rPr sz="2400" dirty="0">
                <a:solidFill>
                  <a:srgbClr val="F3EEE3"/>
                </a:solidFill>
                <a:latin typeface="Calibri"/>
              </a:rPr>
              <a:t> VIABLE, </a:t>
            </a:r>
            <a:r>
              <a:rPr sz="2400" dirty="0" err="1">
                <a:solidFill>
                  <a:srgbClr val="F3EEE3"/>
                </a:solidFill>
                <a:latin typeface="Calibri"/>
              </a:rPr>
              <a:t>siempre</a:t>
            </a:r>
            <a:r>
              <a:rPr sz="2400" dirty="0">
                <a:solidFill>
                  <a:srgbClr val="F3EEE3"/>
                </a:solidFill>
                <a:latin typeface="Calibri"/>
              </a:rPr>
              <a:t> que se </a:t>
            </a:r>
            <a:r>
              <a:rPr sz="2400" dirty="0" err="1">
                <a:solidFill>
                  <a:srgbClr val="F3EEE3"/>
                </a:solidFill>
                <a:latin typeface="Calibri"/>
              </a:rPr>
              <a:t>mantenga</a:t>
            </a:r>
            <a:r>
              <a:rPr sz="2400" dirty="0">
                <a:solidFill>
                  <a:srgbClr val="F3EEE3"/>
                </a:solidFill>
                <a:latin typeface="Calibri"/>
              </a:rPr>
              <a:t> </a:t>
            </a:r>
            <a:r>
              <a:rPr sz="2400" dirty="0" err="1">
                <a:solidFill>
                  <a:srgbClr val="F3EEE3"/>
                </a:solidFill>
                <a:latin typeface="Calibri"/>
              </a:rPr>
              <a:t>el</a:t>
            </a:r>
            <a:r>
              <a:rPr sz="2400" dirty="0">
                <a:solidFill>
                  <a:srgbClr val="F3EEE3"/>
                </a:solidFill>
                <a:latin typeface="Calibri"/>
              </a:rPr>
              <a:t> </a:t>
            </a:r>
            <a:r>
              <a:rPr sz="2400" dirty="0" err="1">
                <a:solidFill>
                  <a:srgbClr val="F3EEE3"/>
                </a:solidFill>
                <a:latin typeface="Calibri"/>
              </a:rPr>
              <a:t>posicionamiento</a:t>
            </a:r>
            <a:r>
              <a:rPr sz="2400" dirty="0">
                <a:solidFill>
                  <a:srgbClr val="F3EEE3"/>
                </a:solidFill>
                <a:latin typeface="Calibri"/>
              </a:rPr>
              <a:t> premium/</a:t>
            </a:r>
            <a:r>
              <a:rPr sz="2400" dirty="0" err="1">
                <a:solidFill>
                  <a:srgbClr val="F3EEE3"/>
                </a:solidFill>
                <a:latin typeface="Calibri"/>
              </a:rPr>
              <a:t>artesanal</a:t>
            </a:r>
            <a:r>
              <a:rPr sz="2400" dirty="0">
                <a:solidFill>
                  <a:srgbClr val="F3EEE3"/>
                </a:solidFill>
                <a:latin typeface="Calibri"/>
              </a:rPr>
              <a:t>, sin </a:t>
            </a:r>
            <a:r>
              <a:rPr sz="2400" dirty="0" err="1">
                <a:solidFill>
                  <a:srgbClr val="F3EEE3"/>
                </a:solidFill>
                <a:latin typeface="Calibri"/>
              </a:rPr>
              <a:t>competir</a:t>
            </a:r>
            <a:r>
              <a:rPr sz="2400" dirty="0">
                <a:solidFill>
                  <a:srgbClr val="F3EEE3"/>
                </a:solidFill>
                <a:latin typeface="Calibri"/>
              </a:rPr>
              <a:t> </a:t>
            </a:r>
            <a:r>
              <a:rPr sz="2400" dirty="0" err="1">
                <a:solidFill>
                  <a:srgbClr val="F3EEE3"/>
                </a:solidFill>
                <a:latin typeface="Calibri"/>
              </a:rPr>
              <a:t>en</a:t>
            </a:r>
            <a:r>
              <a:rPr sz="2400" dirty="0">
                <a:solidFill>
                  <a:srgbClr val="F3EEE3"/>
                </a:solidFill>
                <a:latin typeface="Calibri"/>
              </a:rPr>
              <a:t> </a:t>
            </a:r>
            <a:r>
              <a:rPr sz="2400" dirty="0" err="1">
                <a:solidFill>
                  <a:srgbClr val="F3EEE3"/>
                </a:solidFill>
                <a:latin typeface="Calibri"/>
              </a:rPr>
              <a:t>volumen</a:t>
            </a:r>
            <a:r>
              <a:rPr sz="2400" dirty="0">
                <a:solidFill>
                  <a:srgbClr val="F3EEE3"/>
                </a:solidFill>
                <a:latin typeface="Calibri"/>
              </a:rPr>
              <a:t> contra los </a:t>
            </a:r>
            <a:r>
              <a:rPr sz="2400" dirty="0" err="1">
                <a:solidFill>
                  <a:srgbClr val="F3EEE3"/>
                </a:solidFill>
                <a:latin typeface="Calibri"/>
              </a:rPr>
              <a:t>grandes</a:t>
            </a:r>
            <a:r>
              <a:rPr sz="2400" dirty="0">
                <a:solidFill>
                  <a:srgbClr val="F3EEE3"/>
                </a:solidFill>
                <a:latin typeface="Calibri"/>
              </a:rPr>
              <a:t> </a:t>
            </a:r>
            <a:r>
              <a:rPr sz="2400" dirty="0" err="1">
                <a:solidFill>
                  <a:srgbClr val="F3EEE3"/>
                </a:solidFill>
                <a:latin typeface="Calibri"/>
              </a:rPr>
              <a:t>conglomerados</a:t>
            </a:r>
            <a:r>
              <a:rPr sz="2400" dirty="0">
                <a:solidFill>
                  <a:srgbClr val="F3EEE3"/>
                </a:solidFill>
                <a:latin typeface="Calibri"/>
              </a:rPr>
              <a:t>.</a:t>
            </a:r>
          </a:p>
        </p:txBody>
      </p:sp>
      <p:sp>
        <p:nvSpPr>
          <p:cNvPr id="7" name="TextBox 6"/>
          <p:cNvSpPr txBox="1"/>
          <p:nvPr/>
        </p:nvSpPr>
        <p:spPr>
          <a:xfrm>
            <a:off x="365760" y="6446520"/>
            <a:ext cx="6400800" cy="320040"/>
          </a:xfrm>
          <a:prstGeom prst="rect">
            <a:avLst/>
          </a:prstGeom>
          <a:noFill/>
        </p:spPr>
        <p:txBody>
          <a:bodyPr wrap="square">
            <a:spAutoFit/>
          </a:bodyPr>
          <a:lstStyle/>
          <a:p>
            <a:pPr algn="l"/>
            <a:r>
              <a:rPr sz="1000" b="0" i="0">
                <a:solidFill>
                  <a:srgbClr val="2E2E2E"/>
                </a:solidFill>
                <a:latin typeface="Calibri"/>
              </a:rPr>
              <a:t>CRUJISANAS  |  Mercadotecnia Internacional</a:t>
            </a:r>
          </a:p>
        </p:txBody>
      </p:sp>
      <p:sp>
        <p:nvSpPr>
          <p:cNvPr id="8" name="TextBox 7"/>
          <p:cNvSpPr txBox="1"/>
          <p:nvPr/>
        </p:nvSpPr>
        <p:spPr>
          <a:xfrm>
            <a:off x="11430000" y="6446520"/>
            <a:ext cx="457200" cy="320040"/>
          </a:xfrm>
          <a:prstGeom prst="rect">
            <a:avLst/>
          </a:prstGeom>
          <a:noFill/>
        </p:spPr>
        <p:txBody>
          <a:bodyPr wrap="square">
            <a:spAutoFit/>
          </a:bodyPr>
          <a:lstStyle/>
          <a:p>
            <a:pPr algn="r"/>
            <a:r>
              <a:rPr sz="1000" b="0" i="0">
                <a:solidFill>
                  <a:srgbClr val="2E2E2E"/>
                </a:solidFill>
                <a:latin typeface="Calibri"/>
              </a:rPr>
              <a:t>12</a:t>
            </a:r>
          </a:p>
        </p:txBody>
      </p:sp>
      <p:pic>
        <p:nvPicPr>
          <p:cNvPr id="9218" name="Picture 2" descr="What is the Value Add Mindset?">
            <a:extLst>
              <a:ext uri="{FF2B5EF4-FFF2-40B4-BE49-F238E27FC236}">
                <a16:creationId xmlns:a16="http://schemas.microsoft.com/office/drawing/2014/main" id="{1636B54D-36BA-4F8B-A87E-790159824D9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387"/>
          <a:stretch/>
        </p:blipFill>
        <p:spPr bwMode="auto">
          <a:xfrm>
            <a:off x="6901840" y="1463040"/>
            <a:ext cx="5076799" cy="4305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81818"/>
        </a:solidFill>
        <a:effectLst/>
      </p:bgPr>
    </p:bg>
    <p:spTree>
      <p:nvGrpSpPr>
        <p:cNvPr id="1" name=""/>
        <p:cNvGrpSpPr/>
        <p:nvPr/>
      </p:nvGrpSpPr>
      <p:grpSpPr>
        <a:xfrm>
          <a:off x="0" y="0"/>
          <a:ext cx="0" cy="0"/>
          <a:chOff x="0" y="0"/>
          <a:chExt cx="0" cy="0"/>
        </a:xfrm>
      </p:grpSpPr>
      <p:sp>
        <p:nvSpPr>
          <p:cNvPr id="2" name="Isosceles Triangle 1"/>
          <p:cNvSpPr/>
          <p:nvPr/>
        </p:nvSpPr>
        <p:spPr>
          <a:xfrm rot="1200000">
            <a:off x="548640" y="548640"/>
            <a:ext cx="1280160" cy="1280160"/>
          </a:xfrm>
          <a:prstGeom prst="triangle">
            <a:avLst/>
          </a:prstGeom>
          <a:solidFill>
            <a:srgbClr val="7A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Isosceles Triangle 2"/>
          <p:cNvSpPr/>
          <p:nvPr/>
        </p:nvSpPr>
        <p:spPr>
          <a:xfrm rot="20700000">
            <a:off x="1554480" y="365760"/>
            <a:ext cx="1005840" cy="1005840"/>
          </a:xfrm>
          <a:prstGeom prst="triangle">
            <a:avLst/>
          </a:prstGeom>
          <a:solidFill>
            <a:srgbClr val="D9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2560320"/>
            <a:ext cx="9144000" cy="1097280"/>
          </a:xfrm>
          <a:prstGeom prst="rect">
            <a:avLst/>
          </a:prstGeom>
          <a:noFill/>
        </p:spPr>
        <p:txBody>
          <a:bodyPr wrap="square">
            <a:spAutoFit/>
          </a:bodyPr>
          <a:lstStyle/>
          <a:p>
            <a:pPr algn="l"/>
            <a:r>
              <a:rPr sz="5600" b="1" i="0">
                <a:solidFill>
                  <a:srgbClr val="F3EEE3"/>
                </a:solidFill>
                <a:latin typeface="Calibri"/>
              </a:rPr>
              <a:t>¡Gracias!</a:t>
            </a:r>
          </a:p>
        </p:txBody>
      </p:sp>
      <p:sp>
        <p:nvSpPr>
          <p:cNvPr id="5" name="TextBox 4"/>
          <p:cNvSpPr txBox="1"/>
          <p:nvPr/>
        </p:nvSpPr>
        <p:spPr>
          <a:xfrm>
            <a:off x="685800" y="3657600"/>
            <a:ext cx="8229600" cy="548640"/>
          </a:xfrm>
          <a:prstGeom prst="rect">
            <a:avLst/>
          </a:prstGeom>
          <a:noFill/>
        </p:spPr>
        <p:txBody>
          <a:bodyPr wrap="square">
            <a:spAutoFit/>
          </a:bodyPr>
          <a:lstStyle/>
          <a:p>
            <a:pPr algn="l"/>
            <a:r>
              <a:rPr sz="2000" b="0" i="0">
                <a:solidFill>
                  <a:srgbClr val="D97A3F"/>
                </a:solidFill>
                <a:latin typeface="Calibri"/>
              </a:rPr>
              <a:t>¿Preguntas o comentarios?</a:t>
            </a:r>
          </a:p>
        </p:txBody>
      </p:sp>
      <p:sp>
        <p:nvSpPr>
          <p:cNvPr id="6" name="TextBox 5"/>
          <p:cNvSpPr txBox="1"/>
          <p:nvPr/>
        </p:nvSpPr>
        <p:spPr>
          <a:xfrm>
            <a:off x="685800" y="5760720"/>
            <a:ext cx="10058400" cy="914400"/>
          </a:xfrm>
          <a:prstGeom prst="rect">
            <a:avLst/>
          </a:prstGeom>
          <a:noFill/>
        </p:spPr>
        <p:txBody>
          <a:bodyPr wrap="square">
            <a:spAutoFit/>
          </a:bodyPr>
          <a:lstStyle/>
          <a:p>
            <a:pPr algn="l"/>
            <a:r>
              <a:rPr sz="1000" b="0" i="0">
                <a:solidFill>
                  <a:srgbClr val="2E2E2E"/>
                </a:solidFill>
                <a:latin typeface="Calibri"/>
              </a:rPr>
              <a:t>Fuentes: Shark Tank México (YouTube) · Sweets &amp; Snacks International · SESAN Guatemala (Iniciativa 5504)</a:t>
            </a:r>
          </a:p>
        </p:txBody>
      </p:sp>
      <p:sp>
        <p:nvSpPr>
          <p:cNvPr id="7" name="TextBox 6"/>
          <p:cNvSpPr txBox="1"/>
          <p:nvPr/>
        </p:nvSpPr>
        <p:spPr>
          <a:xfrm>
            <a:off x="365760" y="6446520"/>
            <a:ext cx="6400800" cy="320040"/>
          </a:xfrm>
          <a:prstGeom prst="rect">
            <a:avLst/>
          </a:prstGeom>
          <a:noFill/>
        </p:spPr>
        <p:txBody>
          <a:bodyPr wrap="square">
            <a:spAutoFit/>
          </a:bodyPr>
          <a:lstStyle/>
          <a:p>
            <a:pPr algn="l"/>
            <a:r>
              <a:rPr sz="1000" b="0" i="0">
                <a:solidFill>
                  <a:srgbClr val="2E2E2E"/>
                </a:solidFill>
                <a:latin typeface="Calibri"/>
              </a:rPr>
              <a:t>CRUJISANAS  |  Mercadotecnia Internacional</a:t>
            </a:r>
          </a:p>
        </p:txBody>
      </p:sp>
      <p:sp>
        <p:nvSpPr>
          <p:cNvPr id="8" name="TextBox 7"/>
          <p:cNvSpPr txBox="1"/>
          <p:nvPr/>
        </p:nvSpPr>
        <p:spPr>
          <a:xfrm>
            <a:off x="11430000" y="6446520"/>
            <a:ext cx="457200" cy="320040"/>
          </a:xfrm>
          <a:prstGeom prst="rect">
            <a:avLst/>
          </a:prstGeom>
          <a:noFill/>
        </p:spPr>
        <p:txBody>
          <a:bodyPr wrap="square">
            <a:spAutoFit/>
          </a:bodyPr>
          <a:lstStyle/>
          <a:p>
            <a:pPr algn="r"/>
            <a:r>
              <a:rPr sz="1000" b="0" i="0">
                <a:solidFill>
                  <a:srgbClr val="2E2E2E"/>
                </a:solidFill>
                <a:latin typeface="Calibri"/>
              </a:rPr>
              <a:t>13</a:t>
            </a:r>
          </a:p>
        </p:txBody>
      </p:sp>
      <p:pic>
        <p:nvPicPr>
          <p:cNvPr id="9" name="Picture 2" descr="No hay ninguna descripción de la foto disponible.">
            <a:extLst>
              <a:ext uri="{FF2B5EF4-FFF2-40B4-BE49-F238E27FC236}">
                <a16:creationId xmlns:a16="http://schemas.microsoft.com/office/drawing/2014/main" id="{7D1BA22C-4B9A-4FDC-8B82-ED670096CB9D}"/>
              </a:ext>
            </a:extLst>
          </p:cNvPr>
          <p:cNvPicPr>
            <a:picLocks noChangeAspect="1" noChangeArrowheads="1"/>
          </p:cNvPicPr>
          <p:nvPr/>
        </p:nvPicPr>
        <p:blipFill>
          <a:blip r:embed="rId3">
            <a:alphaModFix amt="78000"/>
            <a:extLst>
              <a:ext uri="{BEBA8EAE-BF5A-486C-A8C5-ECC9F3942E4B}">
                <a14:imgProps xmlns:a14="http://schemas.microsoft.com/office/drawing/2010/main">
                  <a14:imgLayer r:embed="rId4">
                    <a14:imgEffect>
                      <a14:sharpenSoften amount="-6000"/>
                    </a14:imgEffect>
                    <a14:imgEffect>
                      <a14:brightnessContrast bright="-53000"/>
                    </a14:imgEffect>
                  </a14:imgLayer>
                </a14:imgProps>
              </a:ext>
              <a:ext uri="{28A0092B-C50C-407E-A947-70E740481C1C}">
                <a14:useLocalDpi xmlns:a14="http://schemas.microsoft.com/office/drawing/2010/main" val="0"/>
              </a:ext>
            </a:extLst>
          </a:blip>
          <a:srcRect/>
          <a:stretch>
            <a:fillRect/>
          </a:stretch>
        </p:blipFill>
        <p:spPr bwMode="auto">
          <a:xfrm>
            <a:off x="5981105" y="1"/>
            <a:ext cx="6202545"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2012</Words>
  <Application>Microsoft Office PowerPoint</Application>
  <PresentationFormat>Panorámica</PresentationFormat>
  <Paragraphs>134</Paragraphs>
  <Slides>14</Slides>
  <Notes>14</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14</vt:i4>
      </vt:variant>
    </vt:vector>
  </HeadingPairs>
  <TitlesOfParts>
    <vt:vector size="17"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
  <cp:keywords/>
  <dc:description>generated using python-pptx</dc:description>
  <cp:lastModifiedBy>Javier Gtz. Herrera</cp:lastModifiedBy>
  <cp:revision>3</cp:revision>
  <dcterms:created xsi:type="dcterms:W3CDTF">2013-01-27T09:14:16Z</dcterms:created>
  <dcterms:modified xsi:type="dcterms:W3CDTF">2026-07-05T12:22:42Z</dcterms:modified>
  <cp:category/>
</cp:coreProperties>
</file>